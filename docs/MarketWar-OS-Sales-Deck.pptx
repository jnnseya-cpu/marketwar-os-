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problem, not the product. Every business in the room has spent money on marketing and cannot account for it. Do not describe features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each land. The third is the one nobody in the room has a plan for — it is the wedge for slide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there is a laptop in the room, run it live on their domain. The deck is the backup, not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'counted as unknown' line matters to sceptics: it proves the score is not padded.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line is the objection-killer for anyone who has been burned by automation.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separates us from every SEO tool in the room. Timely, specific, and honestly bounded.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anyone who has had a domain burned by a cheap blast tool, the governor is the whole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them to name their current stack out loud and total it. The number is always bigger than they expect.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Prices read from subscription.ts at build time. Growth at £49 is the tier to steer toward — it is the first with the full agent workforce.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close, not a disclaimer. Say it with confidence — it is the strongest thing we own against an incumbent.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them the audit URL on paper or by text before leaving the room. The wedge only works if they actually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offer, not on thanks. The audit is the only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B"/>
        </a:solidFill>
      </p:bgPr>
    </p:bg>
    <p:spTree>
      <p:nvGrpSpPr>
        <p:cNvPr id="1" name=""/>
        <p:cNvGrpSpPr/>
        <p:nvPr/>
      </p:nvGrpSpPr>
      <p:grpSpPr>
        <a:xfrm>
          <a:off x="0" y="0"/>
          <a:ext cx="0" cy="0"/>
          <a:chOff x="0" y="0"/>
          <a:chExt cx="0" cy="0"/>
        </a:xfrm>
      </p:grpSpPr>
      <p:sp>
        <p:nvSpPr>
          <p:cNvPr id="2" name="Text 0"/>
          <p:cNvSpPr txBox="1"/>
          <p:nvPr/>
        </p:nvSpPr>
        <p:spPr>
          <a:xfrm>
            <a:off x="640080" y="1371600"/>
            <a:ext cx="7315200" cy="274320"/>
          </a:xfrm>
          <a:prstGeom prst="rect">
            <a:avLst/>
          </a:prstGeom>
          <a:noFill/>
          <a:ln/>
        </p:spPr>
        <p:txBody>
          <a:bodyPr wrap="square" lIns="0" tIns="0" rIns="0" bIns="0" rtlCol="0" anchor="ctr"/>
          <a:lstStyle/>
          <a:p>
            <a:pPr indent="0" marL="0">
              <a:buNone/>
            </a:pPr>
            <a:r>
              <a:rPr lang="en-US" sz="1150" b="1" spc="340" kern="0" dirty="0">
                <a:solidFill>
                  <a:srgbClr val="BE9247"/>
                </a:solidFill>
                <a:latin typeface="Courier New" pitchFamily="34" charset="0"/>
                <a:ea typeface="Courier New" pitchFamily="34" charset="-122"/>
                <a:cs typeface="Courier New" pitchFamily="34" charset="-120"/>
              </a:rPr>
              <a:t>MARKETWAR OS</a:t>
            </a:r>
            <a:endParaRPr lang="en-US" sz="1150" dirty="0"/>
          </a:p>
        </p:txBody>
      </p:sp>
      <p:sp>
        <p:nvSpPr>
          <p:cNvPr id="3" name="Text 1"/>
          <p:cNvSpPr txBox="1"/>
          <p:nvPr/>
        </p:nvSpPr>
        <p:spPr>
          <a:xfrm>
            <a:off x="640080" y="1965960"/>
            <a:ext cx="8595360" cy="2651760"/>
          </a:xfrm>
          <a:prstGeom prst="rect">
            <a:avLst/>
          </a:prstGeom>
          <a:noFill/>
          <a:ln/>
        </p:spPr>
        <p:txBody>
          <a:bodyPr wrap="square" lIns="0" tIns="0" rIns="0" bIns="0" rtlCol="0" anchor="ctr"/>
          <a:lstStyle/>
          <a:p>
            <a:pPr indent="0" marL="0">
              <a:lnSpc>
                <a:spcPts val="5800"/>
              </a:lnSpc>
              <a:buNone/>
            </a:pPr>
            <a:r>
              <a:rPr lang="en-US" sz="5200" b="1" dirty="0">
                <a:solidFill>
                  <a:srgbClr val="EFEFED"/>
                </a:solidFill>
                <a:latin typeface="Arial" pitchFamily="34" charset="0"/>
                <a:ea typeface="Arial" pitchFamily="34" charset="-122"/>
                <a:cs typeface="Arial" pitchFamily="34" charset="-120"/>
              </a:rPr>
              <a:t>You spent the money.</a:t>
            </a:r>
            <a:endParaRPr lang="en-US" sz="5200" dirty="0"/>
          </a:p>
          <a:p>
            <a:pPr indent="0" marL="0">
              <a:lnSpc>
                <a:spcPts val="5800"/>
              </a:lnSpc>
              <a:buNone/>
            </a:pPr>
            <a:r>
              <a:rPr lang="en-US" sz="5200" b="1" dirty="0">
                <a:solidFill>
                  <a:srgbClr val="DABE81"/>
                </a:solidFill>
                <a:latin typeface="Arial" pitchFamily="34" charset="0"/>
                <a:ea typeface="Arial" pitchFamily="34" charset="-122"/>
                <a:cs typeface="Arial" pitchFamily="34" charset="-120"/>
              </a:rPr>
              <a:t>Nobody can tell you</a:t>
            </a:r>
            <a:endParaRPr lang="en-US" sz="5200" dirty="0"/>
          </a:p>
          <a:p>
            <a:pPr indent="0" marL="0">
              <a:lnSpc>
                <a:spcPts val="5800"/>
              </a:lnSpc>
              <a:buNone/>
            </a:pPr>
            <a:r>
              <a:rPr lang="en-US" sz="5200" b="1" dirty="0">
                <a:solidFill>
                  <a:srgbClr val="DABE81"/>
                </a:solidFill>
                <a:latin typeface="Arial" pitchFamily="34" charset="0"/>
                <a:ea typeface="Arial" pitchFamily="34" charset="-122"/>
                <a:cs typeface="Arial" pitchFamily="34" charset="-120"/>
              </a:rPr>
              <a:t>where it went.</a:t>
            </a:r>
            <a:endParaRPr lang="en-US" sz="5200" dirty="0"/>
          </a:p>
        </p:txBody>
      </p:sp>
      <p:sp>
        <p:nvSpPr>
          <p:cNvPr id="4" name="Text 2"/>
          <p:cNvSpPr txBox="1"/>
          <p:nvPr/>
        </p:nvSpPr>
        <p:spPr>
          <a:xfrm>
            <a:off x="640080" y="4800600"/>
            <a:ext cx="7772400" cy="914400"/>
          </a:xfrm>
          <a:prstGeom prst="rect">
            <a:avLst/>
          </a:prstGeom>
          <a:noFill/>
          <a:ln/>
        </p:spPr>
        <p:txBody>
          <a:bodyPr wrap="square" lIns="0" tIns="0" rIns="0" bIns="0" rtlCol="0" anchor="ctr"/>
          <a:lstStyle/>
          <a:p>
            <a:pPr indent="0" marL="0">
              <a:lnSpc>
                <a:spcPts val="2200"/>
              </a:lnSpc>
              <a:buNone/>
            </a:pPr>
            <a:r>
              <a:rPr lang="en-US" sz="1500" dirty="0">
                <a:solidFill>
                  <a:srgbClr val="9C9C97"/>
                </a:solidFill>
                <a:latin typeface="Calibri" pitchFamily="34" charset="0"/>
                <a:ea typeface="Calibri" pitchFamily="34" charset="-122"/>
                <a:cs typeface="Calibri" pitchFamily="34" charset="-120"/>
              </a:rPr>
              <a:t>An AI customer-acquisition operating system for small and mid-sized businesses. It reads your actual page, tells you what is costing you enquiries, then does the work — and refuses to publish a number it cannot measure.</a:t>
            </a:r>
            <a:endParaRPr lang="en-US" sz="1500" dirty="0"/>
          </a:p>
        </p:txBody>
      </p:sp>
      <p:sp>
        <p:nvSpPr>
          <p:cNvPr id="5" name="Text 3"/>
          <p:cNvSpPr txBox="1"/>
          <p:nvPr/>
        </p:nvSpPr>
        <p:spPr>
          <a:xfrm>
            <a:off x="640080" y="5943600"/>
            <a:ext cx="5486400" cy="274320"/>
          </a:xfrm>
          <a:prstGeom prst="rect">
            <a:avLst/>
          </a:prstGeom>
          <a:noFill/>
          <a:ln/>
        </p:spPr>
        <p:txBody>
          <a:bodyPr wrap="square" lIns="0" tIns="0" rIns="0" bIns="0" rtlCol="0" anchor="ctr"/>
          <a:lstStyle/>
          <a:p>
            <a:pPr indent="0" marL="0">
              <a:buNone/>
            </a:pPr>
            <a:r>
              <a:rPr lang="en-US" sz="1150" dirty="0">
                <a:solidFill>
                  <a:srgbClr val="BE9247"/>
                </a:solidFill>
                <a:latin typeface="Courier New" pitchFamily="34" charset="0"/>
                <a:ea typeface="Courier New" pitchFamily="34" charset="-122"/>
                <a:cs typeface="Courier New" pitchFamily="34" charset="-120"/>
              </a:rPr>
              <a:t>www.marketwaros.com</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B"/>
        </a:solidFill>
      </p:bgPr>
    </p:bg>
    <p:spTree>
      <p:nvGrpSpPr>
        <p:cNvPr id="1" name=""/>
        <p:cNvGrpSpPr/>
        <p:nvPr/>
      </p:nvGrpSpPr>
      <p:grpSpPr>
        <a:xfrm>
          <a:off x="0" y="0"/>
          <a:ext cx="0" cy="0"/>
          <a:chOff x="0" y="0"/>
          <a:chExt cx="0" cy="0"/>
        </a:xfrm>
      </p:grpSpPr>
      <p:sp>
        <p:nvSpPr>
          <p:cNvPr id="2" name="Text 0"/>
          <p:cNvSpPr txBox="1"/>
          <p:nvPr/>
        </p:nvSpPr>
        <p:spPr>
          <a:xfrm>
            <a:off x="640080" y="475488"/>
            <a:ext cx="7315200" cy="256032"/>
          </a:xfrm>
          <a:prstGeom prst="rect">
            <a:avLst/>
          </a:prstGeom>
          <a:noFill/>
          <a:ln/>
        </p:spPr>
        <p:txBody>
          <a:bodyPr wrap="square" lIns="0" tIns="0" rIns="0" bIns="0" rtlCol="0" anchor="ctr"/>
          <a:lstStyle/>
          <a:p>
            <a:pPr indent="0" marL="0">
              <a:buNone/>
            </a:pPr>
            <a:r>
              <a:rPr lang="en-US" sz="1050" b="1" spc="220" kern="0" dirty="0">
                <a:solidFill>
                  <a:srgbClr val="BE9247"/>
                </a:solidFill>
                <a:latin typeface="Courier New" pitchFamily="34" charset="0"/>
                <a:ea typeface="Courier New" pitchFamily="34" charset="-122"/>
                <a:cs typeface="Courier New" pitchFamily="34" charset="-120"/>
              </a:rPr>
              <a:t>THE SITUATION</a:t>
            </a:r>
            <a:endParaRPr lang="en-US" sz="1050" dirty="0"/>
          </a:p>
        </p:txBody>
      </p:sp>
      <p:sp>
        <p:nvSpPr>
          <p:cNvPr id="3" name="Text 1"/>
          <p:cNvSpPr txBox="1"/>
          <p:nvPr/>
        </p:nvSpPr>
        <p:spPr>
          <a:xfrm>
            <a:off x="640080" y="841248"/>
            <a:ext cx="10881360" cy="1417320"/>
          </a:xfrm>
          <a:prstGeom prst="rect">
            <a:avLst/>
          </a:prstGeom>
          <a:noFill/>
          <a:ln/>
        </p:spPr>
        <p:txBody>
          <a:bodyPr wrap="square" lIns="0" tIns="0" rIns="0" bIns="0" rtlCol="0" anchor="ctr"/>
          <a:lstStyle/>
          <a:p>
            <a:pPr indent="0" marL="0">
              <a:lnSpc>
                <a:spcPts val="4500"/>
              </a:lnSpc>
              <a:buNone/>
            </a:pPr>
            <a:r>
              <a:rPr lang="en-US" sz="4000" b="1" dirty="0">
                <a:solidFill>
                  <a:srgbClr val="EFEFED"/>
                </a:solidFill>
                <a:latin typeface="Arial" pitchFamily="34" charset="0"/>
                <a:ea typeface="Arial" pitchFamily="34" charset="-122"/>
                <a:cs typeface="Arial" pitchFamily="34" charset="-120"/>
              </a:rPr>
              <a:t>Three things are true of almost</a:t>
            </a:r>
            <a:endParaRPr lang="en-US" sz="4000" dirty="0"/>
          </a:p>
          <a:p>
            <a:pPr indent="0" marL="0">
              <a:lnSpc>
                <a:spcPts val="4500"/>
              </a:lnSpc>
              <a:buNone/>
            </a:pPr>
            <a:r>
              <a:rPr lang="en-US" sz="4000" b="1" dirty="0">
                <a:solidFill>
                  <a:srgbClr val="EFEFED"/>
                </a:solidFill>
                <a:latin typeface="Arial" pitchFamily="34" charset="0"/>
                <a:ea typeface="Arial" pitchFamily="34" charset="-122"/>
                <a:cs typeface="Arial" pitchFamily="34" charset="-120"/>
              </a:rPr>
              <a:t>every business we look at.</a:t>
            </a:r>
            <a:endParaRPr lang="en-US" sz="4000" dirty="0"/>
          </a:p>
        </p:txBody>
      </p:sp>
      <p:sp>
        <p:nvSpPr>
          <p:cNvPr id="4" name="Shape 2"/>
          <p:cNvSpPr/>
          <p:nvPr/>
        </p:nvSpPr>
        <p:spPr>
          <a:xfrm>
            <a:off x="640080" y="2331720"/>
            <a:ext cx="3438144" cy="3200400"/>
          </a:xfrm>
          <a:prstGeom prst="roundRect">
            <a:avLst>
              <a:gd name="adj" fmla="val 2286"/>
            </a:avLst>
          </a:prstGeom>
          <a:solidFill>
            <a:srgbClr val="151516"/>
          </a:solidFill>
          <a:ln w="9525">
            <a:solidFill>
              <a:srgbClr val="2A2A2C"/>
            </a:solidFill>
            <a:prstDash val="solid"/>
          </a:ln>
        </p:spPr>
      </p:sp>
      <p:sp>
        <p:nvSpPr>
          <p:cNvPr id="5" name="Shape 3"/>
          <p:cNvSpPr/>
          <p:nvPr/>
        </p:nvSpPr>
        <p:spPr>
          <a:xfrm>
            <a:off x="932688" y="2651760"/>
            <a:ext cx="420624" cy="420624"/>
          </a:xfrm>
          <a:prstGeom prst="ellipse">
            <a:avLst/>
          </a:prstGeom>
          <a:solidFill>
            <a:srgbClr val="0A0A0B"/>
          </a:solidFill>
          <a:ln w="13970">
            <a:solidFill>
              <a:srgbClr val="BE9247"/>
            </a:solidFill>
            <a:prstDash val="solid"/>
          </a:ln>
        </p:spPr>
      </p:sp>
      <p:sp>
        <p:nvSpPr>
          <p:cNvPr id="6" name="Text 4"/>
          <p:cNvSpPr txBox="1"/>
          <p:nvPr/>
        </p:nvSpPr>
        <p:spPr>
          <a:xfrm>
            <a:off x="932688" y="2651760"/>
            <a:ext cx="420624" cy="420624"/>
          </a:xfrm>
          <a:prstGeom prst="rect">
            <a:avLst/>
          </a:prstGeom>
          <a:noFill/>
          <a:ln/>
        </p:spPr>
        <p:txBody>
          <a:bodyPr wrap="square" lIns="0" tIns="0" rIns="0" bIns="0" rtlCol="0" anchor="ctr"/>
          <a:lstStyle/>
          <a:p>
            <a:pPr algn="ctr" indent="0" marL="0">
              <a:buNone/>
            </a:pPr>
            <a:r>
              <a:rPr lang="en-US" sz="1200" b="1" dirty="0">
                <a:solidFill>
                  <a:srgbClr val="BE9247"/>
                </a:solidFill>
                <a:latin typeface="Courier New" pitchFamily="34" charset="0"/>
                <a:ea typeface="Courier New" pitchFamily="34" charset="-122"/>
                <a:cs typeface="Courier New" pitchFamily="34" charset="-120"/>
              </a:rPr>
              <a:t>1</a:t>
            </a:r>
            <a:endParaRPr lang="en-US" sz="1200" dirty="0"/>
          </a:p>
        </p:txBody>
      </p:sp>
      <p:sp>
        <p:nvSpPr>
          <p:cNvPr id="7" name="Text 5"/>
          <p:cNvSpPr txBox="1"/>
          <p:nvPr/>
        </p:nvSpPr>
        <p:spPr>
          <a:xfrm>
            <a:off x="932688" y="3246120"/>
            <a:ext cx="2834640" cy="566928"/>
          </a:xfrm>
          <a:prstGeom prst="rect">
            <a:avLst/>
          </a:prstGeom>
          <a:noFill/>
          <a:ln/>
        </p:spPr>
        <p:txBody>
          <a:bodyPr wrap="square" lIns="0" tIns="0" rIns="0" bIns="0" rtlCol="0" anchor="ctr"/>
          <a:lstStyle/>
          <a:p>
            <a:pPr indent="0" marL="0">
              <a:lnSpc>
                <a:spcPts val="2100"/>
              </a:lnSpc>
              <a:buNone/>
            </a:pPr>
            <a:r>
              <a:rPr lang="en-US" sz="1700" b="1" dirty="0">
                <a:solidFill>
                  <a:srgbClr val="EFEFED"/>
                </a:solidFill>
                <a:latin typeface="Arial" pitchFamily="34" charset="0"/>
                <a:ea typeface="Arial" pitchFamily="34" charset="-122"/>
                <a:cs typeface="Arial" pitchFamily="34" charset="-120"/>
              </a:rPr>
              <a:t>Your site leaks</a:t>
            </a:r>
            <a:endParaRPr lang="en-US" sz="1700" dirty="0"/>
          </a:p>
        </p:txBody>
      </p:sp>
      <p:sp>
        <p:nvSpPr>
          <p:cNvPr id="8" name="Text 6"/>
          <p:cNvSpPr txBox="1"/>
          <p:nvPr/>
        </p:nvSpPr>
        <p:spPr>
          <a:xfrm>
            <a:off x="932688" y="3913632"/>
            <a:ext cx="2871216" cy="1463040"/>
          </a:xfrm>
          <a:prstGeom prst="rect">
            <a:avLst/>
          </a:prstGeom>
          <a:noFill/>
          <a:ln/>
        </p:spPr>
        <p:txBody>
          <a:bodyPr wrap="square" lIns="0" tIns="0" rIns="0" bIns="0" rtlCol="0" anchor="ctr"/>
          <a:lstStyle/>
          <a:p>
            <a:pPr indent="0" marL="0">
              <a:lnSpc>
                <a:spcPts val="1700"/>
              </a:lnSpc>
              <a:buNone/>
            </a:pPr>
            <a:r>
              <a:rPr lang="en-US" sz="1200" dirty="0">
                <a:solidFill>
                  <a:srgbClr val="9C9C97"/>
                </a:solidFill>
                <a:latin typeface="Calibri" pitchFamily="34" charset="0"/>
                <a:ea typeface="Calibri" pitchFamily="34" charset="-122"/>
                <a:cs typeface="Calibri" pitchFamily="34" charset="-120"/>
              </a:rPr>
              <a:t>Enquiries are lost to faults nobody has named: no way to make contact on the page somebody landed on, a title that says nothing, structured data absent. Invisible from the inside.</a:t>
            </a:r>
            <a:endParaRPr lang="en-US" sz="1200" dirty="0"/>
          </a:p>
        </p:txBody>
      </p:sp>
      <p:sp>
        <p:nvSpPr>
          <p:cNvPr id="9" name="Shape 7"/>
          <p:cNvSpPr/>
          <p:nvPr/>
        </p:nvSpPr>
        <p:spPr>
          <a:xfrm>
            <a:off x="4352544" y="2331720"/>
            <a:ext cx="3438144" cy="3200400"/>
          </a:xfrm>
          <a:prstGeom prst="roundRect">
            <a:avLst>
              <a:gd name="adj" fmla="val 2286"/>
            </a:avLst>
          </a:prstGeom>
          <a:solidFill>
            <a:srgbClr val="151516"/>
          </a:solidFill>
          <a:ln w="9525">
            <a:solidFill>
              <a:srgbClr val="2A2A2C"/>
            </a:solidFill>
            <a:prstDash val="solid"/>
          </a:ln>
        </p:spPr>
      </p:sp>
      <p:sp>
        <p:nvSpPr>
          <p:cNvPr id="10" name="Shape 8"/>
          <p:cNvSpPr/>
          <p:nvPr/>
        </p:nvSpPr>
        <p:spPr>
          <a:xfrm>
            <a:off x="4645152" y="2651760"/>
            <a:ext cx="420624" cy="420624"/>
          </a:xfrm>
          <a:prstGeom prst="ellipse">
            <a:avLst/>
          </a:prstGeom>
          <a:solidFill>
            <a:srgbClr val="0A0A0B"/>
          </a:solidFill>
          <a:ln w="13970">
            <a:solidFill>
              <a:srgbClr val="BE9247"/>
            </a:solidFill>
            <a:prstDash val="solid"/>
          </a:ln>
        </p:spPr>
      </p:sp>
      <p:sp>
        <p:nvSpPr>
          <p:cNvPr id="11" name="Text 9"/>
          <p:cNvSpPr txBox="1"/>
          <p:nvPr/>
        </p:nvSpPr>
        <p:spPr>
          <a:xfrm>
            <a:off x="4645152" y="2651760"/>
            <a:ext cx="420624" cy="420624"/>
          </a:xfrm>
          <a:prstGeom prst="rect">
            <a:avLst/>
          </a:prstGeom>
          <a:noFill/>
          <a:ln/>
        </p:spPr>
        <p:txBody>
          <a:bodyPr wrap="square" lIns="0" tIns="0" rIns="0" bIns="0" rtlCol="0" anchor="ctr"/>
          <a:lstStyle/>
          <a:p>
            <a:pPr algn="ctr" indent="0" marL="0">
              <a:buNone/>
            </a:pPr>
            <a:r>
              <a:rPr lang="en-US" sz="1200" b="1" dirty="0">
                <a:solidFill>
                  <a:srgbClr val="BE9247"/>
                </a:solidFill>
                <a:latin typeface="Courier New" pitchFamily="34" charset="0"/>
                <a:ea typeface="Courier New" pitchFamily="34" charset="-122"/>
                <a:cs typeface="Courier New" pitchFamily="34" charset="-120"/>
              </a:rPr>
              <a:t>2</a:t>
            </a:r>
            <a:endParaRPr lang="en-US" sz="1200" dirty="0"/>
          </a:p>
        </p:txBody>
      </p:sp>
      <p:sp>
        <p:nvSpPr>
          <p:cNvPr id="12" name="Text 10"/>
          <p:cNvSpPr txBox="1"/>
          <p:nvPr/>
        </p:nvSpPr>
        <p:spPr>
          <a:xfrm>
            <a:off x="4645152" y="3246120"/>
            <a:ext cx="2834640" cy="566928"/>
          </a:xfrm>
          <a:prstGeom prst="rect">
            <a:avLst/>
          </a:prstGeom>
          <a:noFill/>
          <a:ln/>
        </p:spPr>
        <p:txBody>
          <a:bodyPr wrap="square" lIns="0" tIns="0" rIns="0" bIns="0" rtlCol="0" anchor="ctr"/>
          <a:lstStyle/>
          <a:p>
            <a:pPr indent="0" marL="0">
              <a:lnSpc>
                <a:spcPts val="2100"/>
              </a:lnSpc>
              <a:buNone/>
            </a:pPr>
            <a:r>
              <a:rPr lang="en-US" sz="1700" b="1" dirty="0">
                <a:solidFill>
                  <a:srgbClr val="EFEFED"/>
                </a:solidFill>
                <a:latin typeface="Arial" pitchFamily="34" charset="0"/>
                <a:ea typeface="Arial" pitchFamily="34" charset="-122"/>
                <a:cs typeface="Arial" pitchFamily="34" charset="-120"/>
              </a:rPr>
              <a:t>Your agency reports activity</a:t>
            </a:r>
            <a:endParaRPr lang="en-US" sz="1700" dirty="0"/>
          </a:p>
        </p:txBody>
      </p:sp>
      <p:sp>
        <p:nvSpPr>
          <p:cNvPr id="13" name="Text 11"/>
          <p:cNvSpPr txBox="1"/>
          <p:nvPr/>
        </p:nvSpPr>
        <p:spPr>
          <a:xfrm>
            <a:off x="4645152" y="3913632"/>
            <a:ext cx="2871216" cy="1463040"/>
          </a:xfrm>
          <a:prstGeom prst="rect">
            <a:avLst/>
          </a:prstGeom>
          <a:noFill/>
          <a:ln/>
        </p:spPr>
        <p:txBody>
          <a:bodyPr wrap="square" lIns="0" tIns="0" rIns="0" bIns="0" rtlCol="0" anchor="ctr"/>
          <a:lstStyle/>
          <a:p>
            <a:pPr indent="0" marL="0">
              <a:lnSpc>
                <a:spcPts val="1700"/>
              </a:lnSpc>
              <a:buNone/>
            </a:pPr>
            <a:r>
              <a:rPr lang="en-US" sz="1200" dirty="0">
                <a:solidFill>
                  <a:srgbClr val="9C9C97"/>
                </a:solidFill>
                <a:latin typeface="Calibri" pitchFamily="34" charset="0"/>
                <a:ea typeface="Calibri" pitchFamily="34" charset="-122"/>
                <a:cs typeface="Calibri" pitchFamily="34" charset="-120"/>
              </a:rPr>
              <a:t>Posts published, impressions delivered, hours billed. None of that is a sale, and none of it says which pound produced one.</a:t>
            </a:r>
            <a:endParaRPr lang="en-US" sz="1200" dirty="0"/>
          </a:p>
        </p:txBody>
      </p:sp>
      <p:sp>
        <p:nvSpPr>
          <p:cNvPr id="14" name="Shape 12"/>
          <p:cNvSpPr/>
          <p:nvPr/>
        </p:nvSpPr>
        <p:spPr>
          <a:xfrm>
            <a:off x="8065008" y="2331720"/>
            <a:ext cx="3438144" cy="3200400"/>
          </a:xfrm>
          <a:prstGeom prst="roundRect">
            <a:avLst>
              <a:gd name="adj" fmla="val 2286"/>
            </a:avLst>
          </a:prstGeom>
          <a:solidFill>
            <a:srgbClr val="151516"/>
          </a:solidFill>
          <a:ln w="9525">
            <a:solidFill>
              <a:srgbClr val="2A2A2C"/>
            </a:solidFill>
            <a:prstDash val="solid"/>
          </a:ln>
        </p:spPr>
      </p:sp>
      <p:sp>
        <p:nvSpPr>
          <p:cNvPr id="15" name="Shape 13"/>
          <p:cNvSpPr/>
          <p:nvPr/>
        </p:nvSpPr>
        <p:spPr>
          <a:xfrm>
            <a:off x="8357616" y="2651760"/>
            <a:ext cx="420624" cy="420624"/>
          </a:xfrm>
          <a:prstGeom prst="ellipse">
            <a:avLst/>
          </a:prstGeom>
          <a:solidFill>
            <a:srgbClr val="0A0A0B"/>
          </a:solidFill>
          <a:ln w="13970">
            <a:solidFill>
              <a:srgbClr val="BE9247"/>
            </a:solidFill>
            <a:prstDash val="solid"/>
          </a:ln>
        </p:spPr>
      </p:sp>
      <p:sp>
        <p:nvSpPr>
          <p:cNvPr id="16" name="Text 14"/>
          <p:cNvSpPr txBox="1"/>
          <p:nvPr/>
        </p:nvSpPr>
        <p:spPr>
          <a:xfrm>
            <a:off x="8357616" y="2651760"/>
            <a:ext cx="420624" cy="420624"/>
          </a:xfrm>
          <a:prstGeom prst="rect">
            <a:avLst/>
          </a:prstGeom>
          <a:noFill/>
          <a:ln/>
        </p:spPr>
        <p:txBody>
          <a:bodyPr wrap="square" lIns="0" tIns="0" rIns="0" bIns="0" rtlCol="0" anchor="ctr"/>
          <a:lstStyle/>
          <a:p>
            <a:pPr algn="ctr" indent="0" marL="0">
              <a:buNone/>
            </a:pPr>
            <a:r>
              <a:rPr lang="en-US" sz="1200" b="1" dirty="0">
                <a:solidFill>
                  <a:srgbClr val="BE9247"/>
                </a:solidFill>
                <a:latin typeface="Courier New" pitchFamily="34" charset="0"/>
                <a:ea typeface="Courier New" pitchFamily="34" charset="-122"/>
                <a:cs typeface="Courier New" pitchFamily="34" charset="-120"/>
              </a:rPr>
              <a:t>3</a:t>
            </a:r>
            <a:endParaRPr lang="en-US" sz="1200" dirty="0"/>
          </a:p>
        </p:txBody>
      </p:sp>
      <p:sp>
        <p:nvSpPr>
          <p:cNvPr id="17" name="Text 15"/>
          <p:cNvSpPr txBox="1"/>
          <p:nvPr/>
        </p:nvSpPr>
        <p:spPr>
          <a:xfrm>
            <a:off x="8357616" y="3246120"/>
            <a:ext cx="2834640" cy="566928"/>
          </a:xfrm>
          <a:prstGeom prst="rect">
            <a:avLst/>
          </a:prstGeom>
          <a:noFill/>
          <a:ln/>
        </p:spPr>
        <p:txBody>
          <a:bodyPr wrap="square" lIns="0" tIns="0" rIns="0" bIns="0" rtlCol="0" anchor="ctr"/>
          <a:lstStyle/>
          <a:p>
            <a:pPr indent="0" marL="0">
              <a:lnSpc>
                <a:spcPts val="2100"/>
              </a:lnSpc>
              <a:buNone/>
            </a:pPr>
            <a:r>
              <a:rPr lang="en-US" sz="1700" b="1" dirty="0">
                <a:solidFill>
                  <a:srgbClr val="EFEFED"/>
                </a:solidFill>
                <a:latin typeface="Arial" pitchFamily="34" charset="0"/>
                <a:ea typeface="Arial" pitchFamily="34" charset="-122"/>
                <a:cs typeface="Arial" pitchFamily="34" charset="-120"/>
              </a:rPr>
              <a:t>AI answers now, not links</a:t>
            </a:r>
            <a:endParaRPr lang="en-US" sz="1700" dirty="0"/>
          </a:p>
        </p:txBody>
      </p:sp>
      <p:sp>
        <p:nvSpPr>
          <p:cNvPr id="18" name="Text 16"/>
          <p:cNvSpPr txBox="1"/>
          <p:nvPr/>
        </p:nvSpPr>
        <p:spPr>
          <a:xfrm>
            <a:off x="8357616" y="3913632"/>
            <a:ext cx="2871216" cy="1463040"/>
          </a:xfrm>
          <a:prstGeom prst="rect">
            <a:avLst/>
          </a:prstGeom>
          <a:noFill/>
          <a:ln/>
        </p:spPr>
        <p:txBody>
          <a:bodyPr wrap="square" lIns="0" tIns="0" rIns="0" bIns="0" rtlCol="0" anchor="ctr"/>
          <a:lstStyle/>
          <a:p>
            <a:pPr indent="0" marL="0">
              <a:lnSpc>
                <a:spcPts val="1700"/>
              </a:lnSpc>
              <a:buNone/>
            </a:pPr>
            <a:r>
              <a:rPr lang="en-US" sz="1200" dirty="0">
                <a:solidFill>
                  <a:srgbClr val="9C9C97"/>
                </a:solidFill>
                <a:latin typeface="Calibri" pitchFamily="34" charset="0"/>
                <a:ea typeface="Calibri" pitchFamily="34" charset="-122"/>
                <a:cs typeface="Calibri" pitchFamily="34" charset="-120"/>
              </a:rPr>
              <a:t>When somebody asks an assistant who to use, it names businesses. If it cannot read your page, you are not in the answer — and your ranking has nothing to do with it.</a:t>
            </a:r>
            <a:endParaRPr lang="en-US" sz="1200" dirty="0"/>
          </a:p>
        </p:txBody>
      </p:sp>
      <p:sp>
        <p:nvSpPr>
          <p:cNvPr id="19" name="Text 17"/>
          <p:cNvSpPr txBox="1"/>
          <p:nvPr/>
        </p:nvSpPr>
        <p:spPr>
          <a:xfrm>
            <a:off x="640080" y="6291072"/>
            <a:ext cx="10881360" cy="274320"/>
          </a:xfrm>
          <a:prstGeom prst="rect">
            <a:avLst/>
          </a:prstGeom>
          <a:noFill/>
          <a:ln/>
        </p:spPr>
        <p:txBody>
          <a:bodyPr wrap="square" lIns="0" tIns="0" rIns="0" bIns="0" rtlCol="0" anchor="ctr"/>
          <a:lstStyle/>
          <a:p>
            <a:pPr indent="0" marL="0">
              <a:buNone/>
            </a:pPr>
            <a:r>
              <a:rPr lang="en-US" sz="1000" dirty="0">
                <a:solidFill>
                  <a:srgbClr val="7A7A75"/>
                </a:solidFill>
                <a:latin typeface="Calibri" pitchFamily="34" charset="0"/>
                <a:ea typeface="Calibri" pitchFamily="34" charset="-122"/>
                <a:cs typeface="Calibri" pitchFamily="34" charset="-120"/>
              </a:rPr>
              <a:t>None of the three shows up in a monthly report. All three cost money every day.</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B"/>
        </a:solidFill>
      </p:bgPr>
    </p:bg>
    <p:spTree>
      <p:nvGrpSpPr>
        <p:cNvPr id="1" name=""/>
        <p:cNvGrpSpPr/>
        <p:nvPr/>
      </p:nvGrpSpPr>
      <p:grpSpPr>
        <a:xfrm>
          <a:off x="0" y="0"/>
          <a:ext cx="0" cy="0"/>
          <a:chOff x="0" y="0"/>
          <a:chExt cx="0" cy="0"/>
        </a:xfrm>
      </p:grpSpPr>
      <p:sp>
        <p:nvSpPr>
          <p:cNvPr id="2" name="Text 0"/>
          <p:cNvSpPr txBox="1"/>
          <p:nvPr/>
        </p:nvSpPr>
        <p:spPr>
          <a:xfrm>
            <a:off x="640080" y="475488"/>
            <a:ext cx="7315200" cy="256032"/>
          </a:xfrm>
          <a:prstGeom prst="rect">
            <a:avLst/>
          </a:prstGeom>
          <a:noFill/>
          <a:ln/>
        </p:spPr>
        <p:txBody>
          <a:bodyPr wrap="square" lIns="0" tIns="0" rIns="0" bIns="0" rtlCol="0" anchor="ctr"/>
          <a:lstStyle/>
          <a:p>
            <a:pPr indent="0" marL="0">
              <a:buNone/>
            </a:pPr>
            <a:r>
              <a:rPr lang="en-US" sz="1050" b="1" spc="220" kern="0" dirty="0">
                <a:solidFill>
                  <a:srgbClr val="BE9247"/>
                </a:solidFill>
                <a:latin typeface="Courier New" pitchFamily="34" charset="0"/>
                <a:ea typeface="Courier New" pitchFamily="34" charset="-122"/>
                <a:cs typeface="Courier New" pitchFamily="34" charset="-120"/>
              </a:rPr>
              <a:t>START HERE — BEFORE YOU PAY ANYTHING</a:t>
            </a:r>
            <a:endParaRPr lang="en-US" sz="1050" dirty="0"/>
          </a:p>
        </p:txBody>
      </p:sp>
      <p:sp>
        <p:nvSpPr>
          <p:cNvPr id="3" name="Text 1"/>
          <p:cNvSpPr txBox="1"/>
          <p:nvPr/>
        </p:nvSpPr>
        <p:spPr>
          <a:xfrm>
            <a:off x="640080" y="841248"/>
            <a:ext cx="10881360" cy="1417320"/>
          </a:xfrm>
          <a:prstGeom prst="rect">
            <a:avLst/>
          </a:prstGeom>
          <a:noFill/>
          <a:ln/>
        </p:spPr>
        <p:txBody>
          <a:bodyPr wrap="square" lIns="0" tIns="0" rIns="0" bIns="0" rtlCol="0" anchor="ctr"/>
          <a:lstStyle/>
          <a:p>
            <a:pPr indent="0" marL="0">
              <a:lnSpc>
                <a:spcPts val="4500"/>
              </a:lnSpc>
              <a:buNone/>
            </a:pPr>
            <a:r>
              <a:rPr lang="en-US" sz="4000" b="1" dirty="0">
                <a:solidFill>
                  <a:srgbClr val="EFEFED"/>
                </a:solidFill>
                <a:latin typeface="Arial" pitchFamily="34" charset="0"/>
                <a:ea typeface="Arial" pitchFamily="34" charset="-122"/>
                <a:cs typeface="Arial" pitchFamily="34" charset="-120"/>
              </a:rPr>
              <a:t>Put your address in. Get the truth</a:t>
            </a:r>
            <a:endParaRPr lang="en-US" sz="4000" dirty="0"/>
          </a:p>
          <a:p>
            <a:pPr indent="0" marL="0">
              <a:lnSpc>
                <a:spcPts val="4500"/>
              </a:lnSpc>
              <a:buNone/>
            </a:pPr>
            <a:r>
              <a:rPr lang="en-US" sz="4000" b="1" dirty="0">
                <a:solidFill>
                  <a:srgbClr val="EFEFED"/>
                </a:solidFill>
                <a:latin typeface="Arial" pitchFamily="34" charset="0"/>
                <a:ea typeface="Arial" pitchFamily="34" charset="-122"/>
                <a:cs typeface="Arial" pitchFamily="34" charset="-120"/>
              </a:rPr>
              <a:t>about your own page in 15 seconds.</a:t>
            </a:r>
            <a:endParaRPr lang="en-US" sz="4000" dirty="0"/>
          </a:p>
        </p:txBody>
      </p:sp>
      <p:sp>
        <p:nvSpPr>
          <p:cNvPr id="4" name="Text 2"/>
          <p:cNvSpPr txBox="1"/>
          <p:nvPr/>
        </p:nvSpPr>
        <p:spPr>
          <a:xfrm>
            <a:off x="640080" y="2514600"/>
            <a:ext cx="2240280" cy="914400"/>
          </a:xfrm>
          <a:prstGeom prst="rect">
            <a:avLst/>
          </a:prstGeom>
          <a:noFill/>
          <a:ln/>
        </p:spPr>
        <p:txBody>
          <a:bodyPr wrap="square" lIns="0" tIns="0" rIns="0" bIns="0" rtlCol="0" anchor="ctr"/>
          <a:lstStyle/>
          <a:p>
            <a:pPr indent="0" marL="0">
              <a:buNone/>
            </a:pPr>
            <a:r>
              <a:rPr lang="en-US" sz="5800" b="1" dirty="0">
                <a:solidFill>
                  <a:srgbClr val="DABE81"/>
                </a:solidFill>
                <a:latin typeface="Arial" pitchFamily="34" charset="0"/>
                <a:ea typeface="Arial" pitchFamily="34" charset="-122"/>
                <a:cs typeface="Arial" pitchFamily="34" charset="-120"/>
              </a:rPr>
              <a:t>30</a:t>
            </a:r>
            <a:endParaRPr lang="en-US" sz="5800" dirty="0"/>
          </a:p>
        </p:txBody>
      </p:sp>
      <p:sp>
        <p:nvSpPr>
          <p:cNvPr id="5" name="Text 3"/>
          <p:cNvSpPr txBox="1"/>
          <p:nvPr/>
        </p:nvSpPr>
        <p:spPr>
          <a:xfrm>
            <a:off x="640080" y="3456432"/>
            <a:ext cx="2240280" cy="640080"/>
          </a:xfrm>
          <a:prstGeom prst="rect">
            <a:avLst/>
          </a:prstGeom>
          <a:noFill/>
          <a:ln/>
        </p:spPr>
        <p:txBody>
          <a:bodyPr wrap="square" lIns="0" tIns="0" rIns="0" bIns="0" rtlCol="0" anchor="ctr"/>
          <a:lstStyle/>
          <a:p>
            <a:pPr indent="0" marL="0">
              <a:lnSpc>
                <a:spcPts val="1600"/>
              </a:lnSpc>
              <a:buNone/>
            </a:pPr>
            <a:r>
              <a:rPr lang="en-US" sz="1250" dirty="0">
                <a:solidFill>
                  <a:srgbClr val="9C9C97"/>
                </a:solidFill>
                <a:latin typeface="Calibri" pitchFamily="34" charset="0"/>
                <a:ea typeface="Calibri" pitchFamily="34" charset="-122"/>
                <a:cs typeface="Calibri" pitchFamily="34" charset="-120"/>
              </a:rPr>
              <a:t>checks on your real page</a:t>
            </a:r>
            <a:endParaRPr lang="en-US" sz="1250" dirty="0"/>
          </a:p>
        </p:txBody>
      </p:sp>
      <p:sp>
        <p:nvSpPr>
          <p:cNvPr id="6" name="Text 4"/>
          <p:cNvSpPr txBox="1"/>
          <p:nvPr/>
        </p:nvSpPr>
        <p:spPr>
          <a:xfrm>
            <a:off x="3035808" y="2514600"/>
            <a:ext cx="2240280" cy="914400"/>
          </a:xfrm>
          <a:prstGeom prst="rect">
            <a:avLst/>
          </a:prstGeom>
          <a:noFill/>
          <a:ln/>
        </p:spPr>
        <p:txBody>
          <a:bodyPr wrap="square" lIns="0" tIns="0" rIns="0" bIns="0" rtlCol="0" anchor="ctr"/>
          <a:lstStyle/>
          <a:p>
            <a:pPr indent="0" marL="0">
              <a:buNone/>
            </a:pPr>
            <a:r>
              <a:rPr lang="en-US" sz="5800" b="1" dirty="0">
                <a:solidFill>
                  <a:srgbClr val="DABE81"/>
                </a:solidFill>
                <a:latin typeface="Arial" pitchFamily="34" charset="0"/>
                <a:ea typeface="Arial" pitchFamily="34" charset="-122"/>
                <a:cs typeface="Arial" pitchFamily="34" charset="-120"/>
              </a:rPr>
              <a:t>7</a:t>
            </a:r>
            <a:endParaRPr lang="en-US" sz="5800" dirty="0"/>
          </a:p>
        </p:txBody>
      </p:sp>
      <p:sp>
        <p:nvSpPr>
          <p:cNvPr id="7" name="Text 5"/>
          <p:cNvSpPr txBox="1"/>
          <p:nvPr/>
        </p:nvSpPr>
        <p:spPr>
          <a:xfrm>
            <a:off x="3035808" y="3456432"/>
            <a:ext cx="2240280" cy="640080"/>
          </a:xfrm>
          <a:prstGeom prst="rect">
            <a:avLst/>
          </a:prstGeom>
          <a:noFill/>
          <a:ln/>
        </p:spPr>
        <p:txBody>
          <a:bodyPr wrap="square" lIns="0" tIns="0" rIns="0" bIns="0" rtlCol="0" anchor="ctr"/>
          <a:lstStyle/>
          <a:p>
            <a:pPr indent="0" marL="0">
              <a:lnSpc>
                <a:spcPts val="1600"/>
              </a:lnSpc>
              <a:buNone/>
            </a:pPr>
            <a:r>
              <a:rPr lang="en-US" sz="1250" dirty="0">
                <a:solidFill>
                  <a:srgbClr val="9C9C97"/>
                </a:solidFill>
                <a:latin typeface="Calibri" pitchFamily="34" charset="0"/>
                <a:ea typeface="Calibri" pitchFamily="34" charset="-122"/>
                <a:cs typeface="Calibri" pitchFamily="34" charset="-120"/>
              </a:rPr>
              <a:t>scored areas, separately</a:t>
            </a:r>
            <a:endParaRPr lang="en-US" sz="1250" dirty="0"/>
          </a:p>
        </p:txBody>
      </p:sp>
      <p:sp>
        <p:nvSpPr>
          <p:cNvPr id="8" name="Text 6"/>
          <p:cNvSpPr txBox="1"/>
          <p:nvPr/>
        </p:nvSpPr>
        <p:spPr>
          <a:xfrm>
            <a:off x="5431536" y="2514600"/>
            <a:ext cx="2240280" cy="914400"/>
          </a:xfrm>
          <a:prstGeom prst="rect">
            <a:avLst/>
          </a:prstGeom>
          <a:noFill/>
          <a:ln/>
        </p:spPr>
        <p:txBody>
          <a:bodyPr wrap="square" lIns="0" tIns="0" rIns="0" bIns="0" rtlCol="0" anchor="ctr"/>
          <a:lstStyle/>
          <a:p>
            <a:pPr indent="0" marL="0">
              <a:buNone/>
            </a:pPr>
            <a:r>
              <a:rPr lang="en-US" sz="5800" b="1" dirty="0">
                <a:solidFill>
                  <a:srgbClr val="DABE81"/>
                </a:solidFill>
                <a:latin typeface="Arial" pitchFamily="34" charset="0"/>
                <a:ea typeface="Arial" pitchFamily="34" charset="-122"/>
                <a:cs typeface="Arial" pitchFamily="34" charset="-120"/>
              </a:rPr>
              <a:t>£0</a:t>
            </a:r>
            <a:endParaRPr lang="en-US" sz="5800" dirty="0"/>
          </a:p>
        </p:txBody>
      </p:sp>
      <p:sp>
        <p:nvSpPr>
          <p:cNvPr id="9" name="Text 7"/>
          <p:cNvSpPr txBox="1"/>
          <p:nvPr/>
        </p:nvSpPr>
        <p:spPr>
          <a:xfrm>
            <a:off x="5431536" y="3456432"/>
            <a:ext cx="2240280" cy="640080"/>
          </a:xfrm>
          <a:prstGeom prst="rect">
            <a:avLst/>
          </a:prstGeom>
          <a:noFill/>
          <a:ln/>
        </p:spPr>
        <p:txBody>
          <a:bodyPr wrap="square" lIns="0" tIns="0" rIns="0" bIns="0" rtlCol="0" anchor="ctr"/>
          <a:lstStyle/>
          <a:p>
            <a:pPr indent="0" marL="0">
              <a:lnSpc>
                <a:spcPts val="1600"/>
              </a:lnSpc>
              <a:buNone/>
            </a:pPr>
            <a:r>
              <a:rPr lang="en-US" sz="1250" dirty="0">
                <a:solidFill>
                  <a:srgbClr val="9C9C97"/>
                </a:solidFill>
                <a:latin typeface="Calibri" pitchFamily="34" charset="0"/>
                <a:ea typeface="Calibri" pitchFamily="34" charset="-122"/>
                <a:cs typeface="Calibri" pitchFamily="34" charset="-120"/>
              </a:rPr>
              <a:t>no account, no card</a:t>
            </a:r>
            <a:endParaRPr lang="en-US" sz="1250" dirty="0"/>
          </a:p>
        </p:txBody>
      </p:sp>
      <p:sp>
        <p:nvSpPr>
          <p:cNvPr id="10" name="Shape 8"/>
          <p:cNvSpPr/>
          <p:nvPr/>
        </p:nvSpPr>
        <p:spPr>
          <a:xfrm>
            <a:off x="7973568" y="2395728"/>
            <a:ext cx="3547872" cy="2148840"/>
          </a:xfrm>
          <a:prstGeom prst="roundRect">
            <a:avLst>
              <a:gd name="adj" fmla="val 3404"/>
            </a:avLst>
          </a:prstGeom>
          <a:solidFill>
            <a:srgbClr val="151516"/>
          </a:solidFill>
          <a:ln w="9525">
            <a:solidFill>
              <a:srgbClr val="2A2A2C"/>
            </a:solidFill>
            <a:prstDash val="solid"/>
          </a:ln>
        </p:spPr>
      </p:sp>
      <p:sp>
        <p:nvSpPr>
          <p:cNvPr id="11" name="Text 9"/>
          <p:cNvSpPr txBox="1"/>
          <p:nvPr/>
        </p:nvSpPr>
        <p:spPr>
          <a:xfrm>
            <a:off x="8247888" y="2651760"/>
            <a:ext cx="3017520" cy="365760"/>
          </a:xfrm>
          <a:prstGeom prst="rect">
            <a:avLst/>
          </a:prstGeom>
          <a:noFill/>
          <a:ln/>
        </p:spPr>
        <p:txBody>
          <a:bodyPr wrap="square" lIns="0" tIns="0" rIns="0" bIns="0" rtlCol="0" anchor="ctr"/>
          <a:lstStyle/>
          <a:p>
            <a:pPr indent="0" marL="0">
              <a:buNone/>
            </a:pPr>
            <a:r>
              <a:rPr lang="en-US" sz="1500" b="1" dirty="0">
                <a:solidFill>
                  <a:srgbClr val="BE9247"/>
                </a:solidFill>
                <a:latin typeface="Arial" pitchFamily="34" charset="0"/>
                <a:ea typeface="Arial" pitchFamily="34" charset="-122"/>
                <a:cs typeface="Arial" pitchFamily="34" charset="-120"/>
              </a:rPr>
              <a:t>It reads YOUR page.</a:t>
            </a:r>
            <a:endParaRPr lang="en-US" sz="1500" dirty="0"/>
          </a:p>
        </p:txBody>
      </p:sp>
      <p:sp>
        <p:nvSpPr>
          <p:cNvPr id="12" name="Text 10"/>
          <p:cNvSpPr txBox="1"/>
          <p:nvPr/>
        </p:nvSpPr>
        <p:spPr>
          <a:xfrm>
            <a:off x="8247888" y="3072384"/>
            <a:ext cx="3017520" cy="1325880"/>
          </a:xfrm>
          <a:prstGeom prst="rect">
            <a:avLst/>
          </a:prstGeom>
          <a:noFill/>
          <a:ln/>
        </p:spPr>
        <p:txBody>
          <a:bodyPr wrap="square" lIns="0" tIns="0" rIns="0" bIns="0" rtlCol="0" anchor="ctr"/>
          <a:lstStyle/>
          <a:p>
            <a:pPr indent="0" marL="0">
              <a:lnSpc>
                <a:spcPts val="1600"/>
              </a:lnSpc>
              <a:buNone/>
            </a:pPr>
            <a:r>
              <a:rPr lang="en-US" sz="1200" dirty="0">
                <a:solidFill>
                  <a:srgbClr val="9C9C97"/>
                </a:solidFill>
                <a:latin typeface="Calibri" pitchFamily="34" charset="0"/>
                <a:ea typeface="Calibri" pitchFamily="34" charset="-122"/>
                <a:cs typeface="Calibri" pitchFamily="34" charset="-120"/>
              </a:rPr>
              <a:t>Not a database of averages, not an industry benchmark. It fetches the page, follows your contact links, and names every page it read.</a:t>
            </a:r>
            <a:endParaRPr lang="en-US" sz="1200" dirty="0"/>
          </a:p>
        </p:txBody>
      </p:sp>
      <p:sp>
        <p:nvSpPr>
          <p:cNvPr id="13" name="Text 11"/>
          <p:cNvSpPr txBox="1"/>
          <p:nvPr/>
        </p:nvSpPr>
        <p:spPr>
          <a:xfrm>
            <a:off x="640080" y="4754880"/>
            <a:ext cx="10881360" cy="731520"/>
          </a:xfrm>
          <a:prstGeom prst="rect">
            <a:avLst/>
          </a:prstGeom>
          <a:noFill/>
          <a:ln/>
        </p:spPr>
        <p:txBody>
          <a:bodyPr wrap="square" lIns="0" tIns="0" rIns="0" bIns="0" rtlCol="0" anchor="ctr"/>
          <a:lstStyle/>
          <a:p>
            <a:pPr indent="0" marL="0">
              <a:lnSpc>
                <a:spcPts val="1900"/>
              </a:lnSpc>
              <a:buNone/>
            </a:pPr>
            <a:r>
              <a:rPr lang="en-US" sz="1350" dirty="0">
                <a:solidFill>
                  <a:srgbClr val="EFEFED"/>
                </a:solidFill>
                <a:latin typeface="Calibri" pitchFamily="34" charset="0"/>
                <a:ea typeface="Calibri" pitchFamily="34" charset="-122"/>
                <a:cs typeface="Calibri" pitchFamily="34" charset="-120"/>
              </a:rPr>
              <a:t>Every finding carries three things: what it is, what it is costing you in enquiries, and the fix. Technical  ·  SEO  ·  Content  ·  Mobile  ·  Structured data  ·  Social  ·  AI search.</a:t>
            </a:r>
            <a:endParaRPr lang="en-US" sz="1350" dirty="0"/>
          </a:p>
        </p:txBody>
      </p:sp>
      <p:sp>
        <p:nvSpPr>
          <p:cNvPr id="14" name="Text 12"/>
          <p:cNvSpPr txBox="1"/>
          <p:nvPr/>
        </p:nvSpPr>
        <p:spPr>
          <a:xfrm>
            <a:off x="640080" y="6291072"/>
            <a:ext cx="10881360" cy="274320"/>
          </a:xfrm>
          <a:prstGeom prst="rect">
            <a:avLst/>
          </a:prstGeom>
          <a:noFill/>
          <a:ln/>
        </p:spPr>
        <p:txBody>
          <a:bodyPr wrap="square" lIns="0" tIns="0" rIns="0" bIns="0" rtlCol="0" anchor="ctr"/>
          <a:lstStyle/>
          <a:p>
            <a:pPr indent="0" marL="0">
              <a:buNone/>
            </a:pPr>
            <a:r>
              <a:rPr lang="en-US" sz="1000" dirty="0">
                <a:solidFill>
                  <a:srgbClr val="7A7A75"/>
                </a:solidFill>
                <a:latin typeface="Calibri" pitchFamily="34" charset="0"/>
                <a:ea typeface="Calibri" pitchFamily="34" charset="-122"/>
                <a:cs typeface="Calibri" pitchFamily="34" charset="-120"/>
              </a:rPr>
              <a:t>marketwaros.com/audit — the valuable thing is on the outside of the login, on purpose.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B"/>
        </a:solidFill>
      </p:bgPr>
    </p:bg>
    <p:spTree>
      <p:nvGrpSpPr>
        <p:cNvPr id="1" name=""/>
        <p:cNvGrpSpPr/>
        <p:nvPr/>
      </p:nvGrpSpPr>
      <p:grpSpPr>
        <a:xfrm>
          <a:off x="0" y="0"/>
          <a:ext cx="0" cy="0"/>
          <a:chOff x="0" y="0"/>
          <a:chExt cx="0" cy="0"/>
        </a:xfrm>
      </p:grpSpPr>
      <p:sp>
        <p:nvSpPr>
          <p:cNvPr id="2" name="Text 0"/>
          <p:cNvSpPr txBox="1"/>
          <p:nvPr/>
        </p:nvSpPr>
        <p:spPr>
          <a:xfrm>
            <a:off x="640080" y="475488"/>
            <a:ext cx="7315200" cy="256032"/>
          </a:xfrm>
          <a:prstGeom prst="rect">
            <a:avLst/>
          </a:prstGeom>
          <a:noFill/>
          <a:ln/>
        </p:spPr>
        <p:txBody>
          <a:bodyPr wrap="square" lIns="0" tIns="0" rIns="0" bIns="0" rtlCol="0" anchor="ctr"/>
          <a:lstStyle/>
          <a:p>
            <a:pPr indent="0" marL="0">
              <a:buNone/>
            </a:pPr>
            <a:r>
              <a:rPr lang="en-US" sz="1050" b="1" spc="220" kern="0" dirty="0">
                <a:solidFill>
                  <a:srgbClr val="BE9247"/>
                </a:solidFill>
                <a:latin typeface="Courier New" pitchFamily="34" charset="0"/>
                <a:ea typeface="Courier New" pitchFamily="34" charset="-122"/>
                <a:cs typeface="Courier New" pitchFamily="34" charset="-120"/>
              </a:rPr>
              <a:t>WHAT A FINDING LOOKS LIKE</a:t>
            </a:r>
            <a:endParaRPr lang="en-US" sz="1050" dirty="0"/>
          </a:p>
        </p:txBody>
      </p:sp>
      <p:sp>
        <p:nvSpPr>
          <p:cNvPr id="3" name="Text 1"/>
          <p:cNvSpPr txBox="1"/>
          <p:nvPr/>
        </p:nvSpPr>
        <p:spPr>
          <a:xfrm>
            <a:off x="640080" y="841248"/>
            <a:ext cx="10881360" cy="1417320"/>
          </a:xfrm>
          <a:prstGeom prst="rect">
            <a:avLst/>
          </a:prstGeom>
          <a:noFill/>
          <a:ln/>
        </p:spPr>
        <p:txBody>
          <a:bodyPr wrap="square" lIns="0" tIns="0" rIns="0" bIns="0" rtlCol="0" anchor="ctr"/>
          <a:lstStyle/>
          <a:p>
            <a:pPr indent="0" marL="0">
              <a:lnSpc>
                <a:spcPts val="4500"/>
              </a:lnSpc>
              <a:buNone/>
            </a:pPr>
            <a:r>
              <a:rPr lang="en-US" sz="4000" b="1" dirty="0">
                <a:solidFill>
                  <a:srgbClr val="EFEFED"/>
                </a:solidFill>
                <a:latin typeface="Arial" pitchFamily="34" charset="0"/>
                <a:ea typeface="Arial" pitchFamily="34" charset="-122"/>
                <a:cs typeface="Arial" pitchFamily="34" charset="-120"/>
              </a:rPr>
              <a:t>Not a score out of 100.</a:t>
            </a:r>
            <a:endParaRPr lang="en-US" sz="4000" dirty="0"/>
          </a:p>
          <a:p>
            <a:pPr indent="0" marL="0">
              <a:lnSpc>
                <a:spcPts val="4500"/>
              </a:lnSpc>
              <a:buNone/>
            </a:pPr>
            <a:r>
              <a:rPr lang="en-US" sz="4000" b="1" dirty="0">
                <a:solidFill>
                  <a:srgbClr val="EFEFED"/>
                </a:solidFill>
                <a:latin typeface="Arial" pitchFamily="34" charset="0"/>
                <a:ea typeface="Arial" pitchFamily="34" charset="-122"/>
                <a:cs typeface="Arial" pitchFamily="34" charset="-120"/>
              </a:rPr>
              <a:t>A diagnosis you can act on.</a:t>
            </a:r>
            <a:endParaRPr lang="en-US" sz="4000" dirty="0"/>
          </a:p>
        </p:txBody>
      </p:sp>
      <p:sp>
        <p:nvSpPr>
          <p:cNvPr id="4" name="Shape 2"/>
          <p:cNvSpPr/>
          <p:nvPr/>
        </p:nvSpPr>
        <p:spPr>
          <a:xfrm>
            <a:off x="640080" y="2286000"/>
            <a:ext cx="10881360" cy="1133856"/>
          </a:xfrm>
          <a:prstGeom prst="roundRect">
            <a:avLst>
              <a:gd name="adj" fmla="val 6452"/>
            </a:avLst>
          </a:prstGeom>
          <a:solidFill>
            <a:srgbClr val="151516"/>
          </a:solidFill>
          <a:ln w="9525">
            <a:solidFill>
              <a:srgbClr val="2A2A2C"/>
            </a:solidFill>
            <a:prstDash val="solid"/>
          </a:ln>
        </p:spPr>
      </p:sp>
      <p:sp>
        <p:nvSpPr>
          <p:cNvPr id="5" name="Text 3"/>
          <p:cNvSpPr txBox="1"/>
          <p:nvPr/>
        </p:nvSpPr>
        <p:spPr>
          <a:xfrm>
            <a:off x="950976" y="2450592"/>
            <a:ext cx="3200400" cy="365760"/>
          </a:xfrm>
          <a:prstGeom prst="rect">
            <a:avLst/>
          </a:prstGeom>
          <a:noFill/>
          <a:ln/>
        </p:spPr>
        <p:txBody>
          <a:bodyPr wrap="square" lIns="0" tIns="0" rIns="0" bIns="0" rtlCol="0" anchor="ctr"/>
          <a:lstStyle/>
          <a:p>
            <a:pPr indent="0" marL="0">
              <a:buNone/>
            </a:pPr>
            <a:r>
              <a:rPr lang="en-US" sz="1450" b="1" dirty="0">
                <a:solidFill>
                  <a:srgbClr val="EFEFED"/>
                </a:solidFill>
                <a:latin typeface="Arial" pitchFamily="34" charset="0"/>
                <a:ea typeface="Arial" pitchFamily="34" charset="-122"/>
                <a:cs typeface="Arial" pitchFamily="34" charset="-120"/>
              </a:rPr>
              <a:t>No way to make contact</a:t>
            </a:r>
            <a:endParaRPr lang="en-US" sz="1450" dirty="0"/>
          </a:p>
        </p:txBody>
      </p:sp>
      <p:sp>
        <p:nvSpPr>
          <p:cNvPr id="6" name="Text 4"/>
          <p:cNvSpPr txBox="1"/>
          <p:nvPr/>
        </p:nvSpPr>
        <p:spPr>
          <a:xfrm>
            <a:off x="950976" y="2862072"/>
            <a:ext cx="4937760" cy="457200"/>
          </a:xfrm>
          <a:prstGeom prst="rect">
            <a:avLst/>
          </a:prstGeom>
          <a:noFill/>
          <a:ln/>
        </p:spPr>
        <p:txBody>
          <a:bodyPr wrap="square" lIns="0" tIns="0" rIns="0" bIns="0" rtlCol="0" anchor="ctr"/>
          <a:lstStyle/>
          <a:p>
            <a:pPr indent="0" marL="0">
              <a:lnSpc>
                <a:spcPts val="1500"/>
              </a:lnSpc>
              <a:buNone/>
            </a:pPr>
            <a:r>
              <a:rPr lang="en-US" sz="900" b="1" dirty="0">
                <a:solidFill>
                  <a:srgbClr val="BE9247"/>
                </a:solidFill>
                <a:latin typeface="Courier New" pitchFamily="34" charset="0"/>
                <a:ea typeface="Courier New" pitchFamily="34" charset="-122"/>
                <a:cs typeface="Courier New" pitchFamily="34" charset="-120"/>
              </a:rPr>
              <a:t>COSTS  </a:t>
            </a:r>
            <a:pPr indent="0" marL="0">
              <a:lnSpc>
                <a:spcPts val="1500"/>
              </a:lnSpc>
              <a:buNone/>
            </a:pPr>
            <a:r>
              <a:rPr lang="en-US" sz="1150" dirty="0">
                <a:solidFill>
                  <a:srgbClr val="9C9C97"/>
                </a:solidFill>
                <a:latin typeface="Calibri" pitchFamily="34" charset="0"/>
                <a:ea typeface="Calibri" pitchFamily="34" charset="-122"/>
                <a:cs typeface="Calibri" pitchFamily="34" charset="-120"/>
              </a:rPr>
              <a:t>Somebody ready to buy has to hunt for a phone number or an email. Most do not.</a:t>
            </a:r>
            <a:endParaRPr lang="en-US" sz="900" dirty="0"/>
          </a:p>
        </p:txBody>
      </p:sp>
      <p:sp>
        <p:nvSpPr>
          <p:cNvPr id="7" name="Text 5"/>
          <p:cNvSpPr txBox="1"/>
          <p:nvPr/>
        </p:nvSpPr>
        <p:spPr>
          <a:xfrm>
            <a:off x="6217920" y="2862072"/>
            <a:ext cx="5029200" cy="457200"/>
          </a:xfrm>
          <a:prstGeom prst="rect">
            <a:avLst/>
          </a:prstGeom>
          <a:noFill/>
          <a:ln/>
        </p:spPr>
        <p:txBody>
          <a:bodyPr wrap="square" lIns="0" tIns="0" rIns="0" bIns="0" rtlCol="0" anchor="ctr"/>
          <a:lstStyle/>
          <a:p>
            <a:pPr indent="0" marL="0">
              <a:lnSpc>
                <a:spcPts val="1500"/>
              </a:lnSpc>
              <a:buNone/>
            </a:pPr>
            <a:r>
              <a:rPr lang="en-US" sz="900" b="1" dirty="0">
                <a:solidFill>
                  <a:srgbClr val="BE9247"/>
                </a:solidFill>
                <a:latin typeface="Courier New" pitchFamily="34" charset="0"/>
                <a:ea typeface="Courier New" pitchFamily="34" charset="-122"/>
                <a:cs typeface="Courier New" pitchFamily="34" charset="-120"/>
              </a:rPr>
              <a:t>FIX  </a:t>
            </a:r>
            <a:pPr indent="0" marL="0">
              <a:lnSpc>
                <a:spcPts val="1500"/>
              </a:lnSpc>
              <a:buNone/>
            </a:pPr>
            <a:r>
              <a:rPr lang="en-US" sz="1150" dirty="0">
                <a:solidFill>
                  <a:srgbClr val="9C9C97"/>
                </a:solidFill>
                <a:latin typeface="Calibri" pitchFamily="34" charset="0"/>
                <a:ea typeface="Calibri" pitchFamily="34" charset="-122"/>
                <a:cs typeface="Calibri" pitchFamily="34" charset="-120"/>
              </a:rPr>
              <a:t>Add a tel: link and an email link above the fold, on every page.</a:t>
            </a:r>
            <a:endParaRPr lang="en-US" sz="900" dirty="0"/>
          </a:p>
        </p:txBody>
      </p:sp>
      <p:sp>
        <p:nvSpPr>
          <p:cNvPr id="8" name="Shape 6"/>
          <p:cNvSpPr/>
          <p:nvPr/>
        </p:nvSpPr>
        <p:spPr>
          <a:xfrm>
            <a:off x="640080" y="3584448"/>
            <a:ext cx="10881360" cy="1133856"/>
          </a:xfrm>
          <a:prstGeom prst="roundRect">
            <a:avLst>
              <a:gd name="adj" fmla="val 6452"/>
            </a:avLst>
          </a:prstGeom>
          <a:solidFill>
            <a:srgbClr val="151516"/>
          </a:solidFill>
          <a:ln w="9525">
            <a:solidFill>
              <a:srgbClr val="2A2A2C"/>
            </a:solidFill>
            <a:prstDash val="solid"/>
          </a:ln>
        </p:spPr>
      </p:sp>
      <p:sp>
        <p:nvSpPr>
          <p:cNvPr id="9" name="Text 7"/>
          <p:cNvSpPr txBox="1"/>
          <p:nvPr/>
        </p:nvSpPr>
        <p:spPr>
          <a:xfrm>
            <a:off x="950976" y="3749040"/>
            <a:ext cx="3200400" cy="365760"/>
          </a:xfrm>
          <a:prstGeom prst="rect">
            <a:avLst/>
          </a:prstGeom>
          <a:noFill/>
          <a:ln/>
        </p:spPr>
        <p:txBody>
          <a:bodyPr wrap="square" lIns="0" tIns="0" rIns="0" bIns="0" rtlCol="0" anchor="ctr"/>
          <a:lstStyle/>
          <a:p>
            <a:pPr indent="0" marL="0">
              <a:buNone/>
            </a:pPr>
            <a:r>
              <a:rPr lang="en-US" sz="1450" b="1" dirty="0">
                <a:solidFill>
                  <a:srgbClr val="EFEFED"/>
                </a:solidFill>
                <a:latin typeface="Arial" pitchFamily="34" charset="0"/>
                <a:ea typeface="Arial" pitchFamily="34" charset="-122"/>
                <a:cs typeface="Arial" pitchFamily="34" charset="-120"/>
              </a:rPr>
              <a:t>Invisible to AI assistants</a:t>
            </a:r>
            <a:endParaRPr lang="en-US" sz="1450" dirty="0"/>
          </a:p>
        </p:txBody>
      </p:sp>
      <p:sp>
        <p:nvSpPr>
          <p:cNvPr id="10" name="Text 8"/>
          <p:cNvSpPr txBox="1"/>
          <p:nvPr/>
        </p:nvSpPr>
        <p:spPr>
          <a:xfrm>
            <a:off x="950976" y="4160520"/>
            <a:ext cx="4937760" cy="457200"/>
          </a:xfrm>
          <a:prstGeom prst="rect">
            <a:avLst/>
          </a:prstGeom>
          <a:noFill/>
          <a:ln/>
        </p:spPr>
        <p:txBody>
          <a:bodyPr wrap="square" lIns="0" tIns="0" rIns="0" bIns="0" rtlCol="0" anchor="ctr"/>
          <a:lstStyle/>
          <a:p>
            <a:pPr indent="0" marL="0">
              <a:lnSpc>
                <a:spcPts val="1500"/>
              </a:lnSpc>
              <a:buNone/>
            </a:pPr>
            <a:r>
              <a:rPr lang="en-US" sz="900" b="1" dirty="0">
                <a:solidFill>
                  <a:srgbClr val="BE9247"/>
                </a:solidFill>
                <a:latin typeface="Courier New" pitchFamily="34" charset="0"/>
                <a:ea typeface="Courier New" pitchFamily="34" charset="-122"/>
                <a:cs typeface="Courier New" pitchFamily="34" charset="-120"/>
              </a:rPr>
              <a:t>COSTS  </a:t>
            </a:r>
            <a:pPr indent="0" marL="0">
              <a:lnSpc>
                <a:spcPts val="1500"/>
              </a:lnSpc>
              <a:buNone/>
            </a:pPr>
            <a:r>
              <a:rPr lang="en-US" sz="1150" dirty="0">
                <a:solidFill>
                  <a:srgbClr val="9C9C97"/>
                </a:solidFill>
                <a:latin typeface="Calibri" pitchFamily="34" charset="0"/>
                <a:ea typeface="Calibri" pitchFamily="34" charset="-122"/>
                <a:cs typeface="Calibri" pitchFamily="34" charset="-120"/>
              </a:rPr>
              <a:t>Your robots.txt blocks the crawlers that feed ChatGPT, Claude and Gemini. It usually arrived in a template.</a:t>
            </a:r>
            <a:endParaRPr lang="en-US" sz="900" dirty="0"/>
          </a:p>
        </p:txBody>
      </p:sp>
      <p:sp>
        <p:nvSpPr>
          <p:cNvPr id="11" name="Text 9"/>
          <p:cNvSpPr txBox="1"/>
          <p:nvPr/>
        </p:nvSpPr>
        <p:spPr>
          <a:xfrm>
            <a:off x="6217920" y="4160520"/>
            <a:ext cx="5029200" cy="457200"/>
          </a:xfrm>
          <a:prstGeom prst="rect">
            <a:avLst/>
          </a:prstGeom>
          <a:noFill/>
          <a:ln/>
        </p:spPr>
        <p:txBody>
          <a:bodyPr wrap="square" lIns="0" tIns="0" rIns="0" bIns="0" rtlCol="0" anchor="ctr"/>
          <a:lstStyle/>
          <a:p>
            <a:pPr indent="0" marL="0">
              <a:lnSpc>
                <a:spcPts val="1500"/>
              </a:lnSpc>
              <a:buNone/>
            </a:pPr>
            <a:r>
              <a:rPr lang="en-US" sz="900" b="1" dirty="0">
                <a:solidFill>
                  <a:srgbClr val="BE9247"/>
                </a:solidFill>
                <a:latin typeface="Courier New" pitchFamily="34" charset="0"/>
                <a:ea typeface="Courier New" pitchFamily="34" charset="-122"/>
                <a:cs typeface="Courier New" pitchFamily="34" charset="-120"/>
              </a:rPr>
              <a:t>FIX  </a:t>
            </a:r>
            <a:pPr indent="0" marL="0">
              <a:lnSpc>
                <a:spcPts val="1500"/>
              </a:lnSpc>
              <a:buNone/>
            </a:pPr>
            <a:r>
              <a:rPr lang="en-US" sz="1150" dirty="0">
                <a:solidFill>
                  <a:srgbClr val="9C9C97"/>
                </a:solidFill>
                <a:latin typeface="Calibri" pitchFamily="34" charset="0"/>
                <a:ea typeface="Calibri" pitchFamily="34" charset="-122"/>
                <a:cs typeface="Calibri" pitchFamily="34" charset="-120"/>
              </a:rPr>
              <a:t>Allow the named AI crawlers. Google-Extended does not affect your search ranking at all.</a:t>
            </a:r>
            <a:endParaRPr lang="en-US" sz="900" dirty="0"/>
          </a:p>
        </p:txBody>
      </p:sp>
      <p:sp>
        <p:nvSpPr>
          <p:cNvPr id="12" name="Shape 10"/>
          <p:cNvSpPr/>
          <p:nvPr/>
        </p:nvSpPr>
        <p:spPr>
          <a:xfrm>
            <a:off x="640080" y="4882896"/>
            <a:ext cx="10881360" cy="1133856"/>
          </a:xfrm>
          <a:prstGeom prst="roundRect">
            <a:avLst>
              <a:gd name="adj" fmla="val 6452"/>
            </a:avLst>
          </a:prstGeom>
          <a:solidFill>
            <a:srgbClr val="151516"/>
          </a:solidFill>
          <a:ln w="9525">
            <a:solidFill>
              <a:srgbClr val="2A2A2C"/>
            </a:solidFill>
            <a:prstDash val="solid"/>
          </a:ln>
        </p:spPr>
      </p:sp>
      <p:sp>
        <p:nvSpPr>
          <p:cNvPr id="13" name="Text 11"/>
          <p:cNvSpPr txBox="1"/>
          <p:nvPr/>
        </p:nvSpPr>
        <p:spPr>
          <a:xfrm>
            <a:off x="950976" y="5047488"/>
            <a:ext cx="3200400" cy="365760"/>
          </a:xfrm>
          <a:prstGeom prst="rect">
            <a:avLst/>
          </a:prstGeom>
          <a:noFill/>
          <a:ln/>
        </p:spPr>
        <p:txBody>
          <a:bodyPr wrap="square" lIns="0" tIns="0" rIns="0" bIns="0" rtlCol="0" anchor="ctr"/>
          <a:lstStyle/>
          <a:p>
            <a:pPr indent="0" marL="0">
              <a:buNone/>
            </a:pPr>
            <a:r>
              <a:rPr lang="en-US" sz="1450" b="1" dirty="0">
                <a:solidFill>
                  <a:srgbClr val="EFEFED"/>
                </a:solidFill>
                <a:latin typeface="Arial" pitchFamily="34" charset="0"/>
                <a:ea typeface="Arial" pitchFamily="34" charset="-122"/>
                <a:cs typeface="Arial" pitchFamily="34" charset="-120"/>
              </a:rPr>
              <a:t>The page arrives empty</a:t>
            </a:r>
            <a:endParaRPr lang="en-US" sz="1450" dirty="0"/>
          </a:p>
        </p:txBody>
      </p:sp>
      <p:sp>
        <p:nvSpPr>
          <p:cNvPr id="14" name="Text 12"/>
          <p:cNvSpPr txBox="1"/>
          <p:nvPr/>
        </p:nvSpPr>
        <p:spPr>
          <a:xfrm>
            <a:off x="950976" y="5458968"/>
            <a:ext cx="4937760" cy="457200"/>
          </a:xfrm>
          <a:prstGeom prst="rect">
            <a:avLst/>
          </a:prstGeom>
          <a:noFill/>
          <a:ln/>
        </p:spPr>
        <p:txBody>
          <a:bodyPr wrap="square" lIns="0" tIns="0" rIns="0" bIns="0" rtlCol="0" anchor="ctr"/>
          <a:lstStyle/>
          <a:p>
            <a:pPr indent="0" marL="0">
              <a:lnSpc>
                <a:spcPts val="1500"/>
              </a:lnSpc>
              <a:buNone/>
            </a:pPr>
            <a:r>
              <a:rPr lang="en-US" sz="900" b="1" dirty="0">
                <a:solidFill>
                  <a:srgbClr val="BE9247"/>
                </a:solidFill>
                <a:latin typeface="Courier New" pitchFamily="34" charset="0"/>
                <a:ea typeface="Courier New" pitchFamily="34" charset="-122"/>
                <a:cs typeface="Courier New" pitchFamily="34" charset="-120"/>
              </a:rPr>
              <a:t>COSTS  </a:t>
            </a:r>
            <a:pPr indent="0" marL="0">
              <a:lnSpc>
                <a:spcPts val="1500"/>
              </a:lnSpc>
              <a:buNone/>
            </a:pPr>
            <a:r>
              <a:rPr lang="en-US" sz="1150" dirty="0">
                <a:solidFill>
                  <a:srgbClr val="9C9C97"/>
                </a:solidFill>
                <a:latin typeface="Calibri" pitchFamily="34" charset="0"/>
                <a:ea typeface="Calibri" pitchFamily="34" charset="-122"/>
                <a:cs typeface="Calibri" pitchFamily="34" charset="-120"/>
              </a:rPr>
              <a:t>The text fills in once scripts run. Google renders; most assistant crawlers read the HTML as it comes.</a:t>
            </a:r>
            <a:endParaRPr lang="en-US" sz="900" dirty="0"/>
          </a:p>
        </p:txBody>
      </p:sp>
      <p:sp>
        <p:nvSpPr>
          <p:cNvPr id="15" name="Text 13"/>
          <p:cNvSpPr txBox="1"/>
          <p:nvPr/>
        </p:nvSpPr>
        <p:spPr>
          <a:xfrm>
            <a:off x="6217920" y="5458968"/>
            <a:ext cx="5029200" cy="457200"/>
          </a:xfrm>
          <a:prstGeom prst="rect">
            <a:avLst/>
          </a:prstGeom>
          <a:noFill/>
          <a:ln/>
        </p:spPr>
        <p:txBody>
          <a:bodyPr wrap="square" lIns="0" tIns="0" rIns="0" bIns="0" rtlCol="0" anchor="ctr"/>
          <a:lstStyle/>
          <a:p>
            <a:pPr indent="0" marL="0">
              <a:lnSpc>
                <a:spcPts val="1500"/>
              </a:lnSpc>
              <a:buNone/>
            </a:pPr>
            <a:r>
              <a:rPr lang="en-US" sz="900" b="1" dirty="0">
                <a:solidFill>
                  <a:srgbClr val="BE9247"/>
                </a:solidFill>
                <a:latin typeface="Courier New" pitchFamily="34" charset="0"/>
                <a:ea typeface="Courier New" pitchFamily="34" charset="-122"/>
                <a:cs typeface="Courier New" pitchFamily="34" charset="-120"/>
              </a:rPr>
              <a:t>FIX  </a:t>
            </a:r>
            <a:pPr indent="0" marL="0">
              <a:lnSpc>
                <a:spcPts val="1500"/>
              </a:lnSpc>
              <a:buNone/>
            </a:pPr>
            <a:r>
              <a:rPr lang="en-US" sz="1150" dirty="0">
                <a:solidFill>
                  <a:srgbClr val="9C9C97"/>
                </a:solidFill>
                <a:latin typeface="Calibri" pitchFamily="34" charset="0"/>
                <a:ea typeface="Calibri" pitchFamily="34" charset="-122"/>
                <a:cs typeface="Calibri" pitchFamily="34" charset="-120"/>
              </a:rPr>
              <a:t>Serve the copy in the HTML so it is there before anything executes.</a:t>
            </a:r>
            <a:endParaRPr lang="en-US" sz="900" dirty="0"/>
          </a:p>
        </p:txBody>
      </p:sp>
      <p:sp>
        <p:nvSpPr>
          <p:cNvPr id="16" name="Text 14"/>
          <p:cNvSpPr txBox="1"/>
          <p:nvPr/>
        </p:nvSpPr>
        <p:spPr>
          <a:xfrm>
            <a:off x="640080" y="6291072"/>
            <a:ext cx="10881360" cy="274320"/>
          </a:xfrm>
          <a:prstGeom prst="rect">
            <a:avLst/>
          </a:prstGeom>
          <a:noFill/>
          <a:ln/>
        </p:spPr>
        <p:txBody>
          <a:bodyPr wrap="square" lIns="0" tIns="0" rIns="0" bIns="0" rtlCol="0" anchor="ctr"/>
          <a:lstStyle/>
          <a:p>
            <a:pPr indent="0" marL="0">
              <a:buNone/>
            </a:pPr>
            <a:r>
              <a:rPr lang="en-US" sz="1000" dirty="0">
                <a:solidFill>
                  <a:srgbClr val="7A7A75"/>
                </a:solidFill>
                <a:latin typeface="Calibri" pitchFamily="34" charset="0"/>
                <a:ea typeface="Calibri" pitchFamily="34" charset="-122"/>
                <a:cs typeface="Calibri" pitchFamily="34" charset="-120"/>
              </a:rPr>
              <a:t>A check it could not read is reported as unknown — never counted against you as a zero.</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B"/>
        </a:solidFill>
      </p:bgPr>
    </p:bg>
    <p:spTree>
      <p:nvGrpSpPr>
        <p:cNvPr id="1" name=""/>
        <p:cNvGrpSpPr/>
        <p:nvPr/>
      </p:nvGrpSpPr>
      <p:grpSpPr>
        <a:xfrm>
          <a:off x="0" y="0"/>
          <a:ext cx="0" cy="0"/>
          <a:chOff x="0" y="0"/>
          <a:chExt cx="0" cy="0"/>
        </a:xfrm>
      </p:grpSpPr>
      <p:sp>
        <p:nvSpPr>
          <p:cNvPr id="2" name="Text 0"/>
          <p:cNvSpPr txBox="1"/>
          <p:nvPr/>
        </p:nvSpPr>
        <p:spPr>
          <a:xfrm>
            <a:off x="640080" y="475488"/>
            <a:ext cx="7315200" cy="256032"/>
          </a:xfrm>
          <a:prstGeom prst="rect">
            <a:avLst/>
          </a:prstGeom>
          <a:noFill/>
          <a:ln/>
        </p:spPr>
        <p:txBody>
          <a:bodyPr wrap="square" lIns="0" tIns="0" rIns="0" bIns="0" rtlCol="0" anchor="ctr"/>
          <a:lstStyle/>
          <a:p>
            <a:pPr indent="0" marL="0">
              <a:buNone/>
            </a:pPr>
            <a:r>
              <a:rPr lang="en-US" sz="1050" b="1" spc="220" kern="0" dirty="0">
                <a:solidFill>
                  <a:srgbClr val="BE9247"/>
                </a:solidFill>
                <a:latin typeface="Courier New" pitchFamily="34" charset="0"/>
                <a:ea typeface="Courier New" pitchFamily="34" charset="-122"/>
                <a:cs typeface="Courier New" pitchFamily="34" charset="-120"/>
              </a:rPr>
              <a:t>THEN IT DOES SOMETHING ABOUT IT</a:t>
            </a:r>
            <a:endParaRPr lang="en-US" sz="1050" dirty="0"/>
          </a:p>
        </p:txBody>
      </p:sp>
      <p:sp>
        <p:nvSpPr>
          <p:cNvPr id="3" name="Text 1"/>
          <p:cNvSpPr txBox="1"/>
          <p:nvPr/>
        </p:nvSpPr>
        <p:spPr>
          <a:xfrm>
            <a:off x="640080" y="841248"/>
            <a:ext cx="10881360" cy="1417320"/>
          </a:xfrm>
          <a:prstGeom prst="rect">
            <a:avLst/>
          </a:prstGeom>
          <a:noFill/>
          <a:ln/>
        </p:spPr>
        <p:txBody>
          <a:bodyPr wrap="square" lIns="0" tIns="0" rIns="0" bIns="0" rtlCol="0" anchor="ctr"/>
          <a:lstStyle/>
          <a:p>
            <a:pPr indent="0" marL="0">
              <a:lnSpc>
                <a:spcPts val="4500"/>
              </a:lnSpc>
              <a:buNone/>
            </a:pPr>
            <a:r>
              <a:rPr lang="en-US" sz="4000" b="1" dirty="0">
                <a:solidFill>
                  <a:srgbClr val="EFEFED"/>
                </a:solidFill>
                <a:latin typeface="Arial" pitchFamily="34" charset="0"/>
                <a:ea typeface="Arial" pitchFamily="34" charset="-122"/>
                <a:cs typeface="Arial" pitchFamily="34" charset="-120"/>
              </a:rPr>
              <a:t>39 agents that do the job,</a:t>
            </a:r>
            <a:endParaRPr lang="en-US" sz="4000" dirty="0"/>
          </a:p>
          <a:p>
            <a:pPr indent="0" marL="0">
              <a:lnSpc>
                <a:spcPts val="4500"/>
              </a:lnSpc>
              <a:buNone/>
            </a:pPr>
            <a:r>
              <a:rPr lang="en-US" sz="4000" b="1" dirty="0">
                <a:solidFill>
                  <a:srgbClr val="EFEFED"/>
                </a:solidFill>
                <a:latin typeface="Arial" pitchFamily="34" charset="0"/>
                <a:ea typeface="Arial" pitchFamily="34" charset="-122"/>
                <a:cs typeface="Arial" pitchFamily="34" charset="-120"/>
              </a:rPr>
              <a:t>not 39 chatbots that describe it.</a:t>
            </a:r>
            <a:endParaRPr lang="en-US" sz="4000" dirty="0"/>
          </a:p>
        </p:txBody>
      </p:sp>
      <p:sp>
        <p:nvSpPr>
          <p:cNvPr id="4" name="Shape 2"/>
          <p:cNvSpPr/>
          <p:nvPr/>
        </p:nvSpPr>
        <p:spPr>
          <a:xfrm>
            <a:off x="640080" y="2286000"/>
            <a:ext cx="2542032" cy="3200400"/>
          </a:xfrm>
          <a:prstGeom prst="roundRect">
            <a:avLst>
              <a:gd name="adj" fmla="val 2878"/>
            </a:avLst>
          </a:prstGeom>
          <a:solidFill>
            <a:srgbClr val="151516"/>
          </a:solidFill>
          <a:ln w="9525">
            <a:solidFill>
              <a:srgbClr val="2A2A2C"/>
            </a:solidFill>
            <a:prstDash val="solid"/>
          </a:ln>
        </p:spPr>
      </p:sp>
      <p:sp>
        <p:nvSpPr>
          <p:cNvPr id="5" name="Text 3"/>
          <p:cNvSpPr txBox="1"/>
          <p:nvPr/>
        </p:nvSpPr>
        <p:spPr>
          <a:xfrm>
            <a:off x="896112" y="2542032"/>
            <a:ext cx="2011680" cy="310896"/>
          </a:xfrm>
          <a:prstGeom prst="rect">
            <a:avLst/>
          </a:prstGeom>
          <a:noFill/>
          <a:ln/>
        </p:spPr>
        <p:txBody>
          <a:bodyPr wrap="square" lIns="0" tIns="0" rIns="0" bIns="0" rtlCol="0" anchor="ctr"/>
          <a:lstStyle/>
          <a:p>
            <a:pPr indent="0" marL="0">
              <a:buNone/>
            </a:pPr>
            <a:r>
              <a:rPr lang="en-US" sz="1100" b="1" spc="180" kern="0" dirty="0">
                <a:solidFill>
                  <a:srgbClr val="BE9247"/>
                </a:solidFill>
                <a:latin typeface="Courier New" pitchFamily="34" charset="0"/>
                <a:ea typeface="Courier New" pitchFamily="34" charset="-122"/>
                <a:cs typeface="Courier New" pitchFamily="34" charset="-120"/>
              </a:rPr>
              <a:t>FIND</a:t>
            </a:r>
            <a:endParaRPr lang="en-US" sz="1100" dirty="0"/>
          </a:p>
        </p:txBody>
      </p:sp>
      <p:sp>
        <p:nvSpPr>
          <p:cNvPr id="6" name="Text 4"/>
          <p:cNvSpPr txBox="1"/>
          <p:nvPr/>
        </p:nvSpPr>
        <p:spPr>
          <a:xfrm>
            <a:off x="896112" y="2944368"/>
            <a:ext cx="2048256" cy="2286000"/>
          </a:xfrm>
          <a:prstGeom prst="rect">
            <a:avLst/>
          </a:prstGeom>
          <a:noFill/>
          <a:ln/>
        </p:spPr>
        <p:txBody>
          <a:bodyPr wrap="square" lIns="0" tIns="0" rIns="0" bIns="0" rtlCol="0" anchor="ctr"/>
          <a:lstStyle/>
          <a:p>
            <a:pPr marL="342900" indent="-342900">
              <a:lnSpc>
                <a:spcPts val="1500"/>
              </a:lnSpc>
              <a:spcAft>
                <a:spcPts val="800"/>
              </a:spcAft>
              <a:buSzPct val="100000"/>
              <a:buChar char="•"/>
            </a:pPr>
            <a:r>
              <a:rPr lang="en-US" sz="1150" dirty="0">
                <a:solidFill>
                  <a:srgbClr val="9C9C97"/>
                </a:solidFill>
                <a:latin typeface="Calibri" pitchFamily="34" charset="0"/>
                <a:ea typeface="Calibri" pitchFamily="34" charset="-122"/>
                <a:cs typeface="Calibri" pitchFamily="34" charset="-120"/>
              </a:rPr>
              <a:t>Opportunity discovery</a:t>
            </a:r>
            <a:endParaRPr lang="en-US" sz="1150" dirty="0"/>
          </a:p>
          <a:p>
            <a:pPr indent="0" marL="0">
              <a:lnSpc>
                <a:spcPts val="1500"/>
              </a:lnSpc>
              <a:spcAft>
                <a:spcPts val="800"/>
              </a:spcAft>
              <a:buNone/>
            </a:pPr>
            <a:r>
              <a:rPr lang="en-US" sz="1150" dirty="0">
                <a:solidFill>
                  <a:srgbClr val="9C9C97"/>
                </a:solidFill>
                <a:latin typeface="Calibri" pitchFamily="34" charset="0"/>
                <a:ea typeface="Calibri" pitchFamily="34" charset="-122"/>
                <a:cs typeface="Calibri" pitchFamily="34" charset="-120"/>
              </a:rPr>
              <a:t>Competitor intelligence</a:t>
            </a:r>
            <a:endParaRPr lang="en-US" sz="1150" dirty="0"/>
          </a:p>
          <a:p>
            <a:pPr indent="0" marL="0">
              <a:lnSpc>
                <a:spcPts val="1500"/>
              </a:lnSpc>
              <a:spcAft>
                <a:spcPts val="800"/>
              </a:spcAft>
              <a:buNone/>
            </a:pPr>
            <a:r>
              <a:rPr lang="en-US" sz="1150" dirty="0">
                <a:solidFill>
                  <a:srgbClr val="9C9C97"/>
                </a:solidFill>
                <a:latin typeface="Calibri" pitchFamily="34" charset="0"/>
                <a:ea typeface="Calibri" pitchFamily="34" charset="-122"/>
                <a:cs typeface="Calibri" pitchFamily="34" charset="-120"/>
              </a:rPr>
              <a:t>Ideal-customer profile</a:t>
            </a:r>
            <a:endParaRPr lang="en-US" sz="1150" dirty="0"/>
          </a:p>
          <a:p>
            <a:pPr indent="0" marL="0">
              <a:lnSpc>
                <a:spcPts val="1500"/>
              </a:lnSpc>
              <a:spcAft>
                <a:spcPts val="800"/>
              </a:spcAft>
              <a:buNone/>
            </a:pPr>
            <a:r>
              <a:rPr lang="en-US" sz="1150" dirty="0">
                <a:solidFill>
                  <a:srgbClr val="9C9C97"/>
                </a:solidFill>
                <a:latin typeface="Calibri" pitchFamily="34" charset="0"/>
                <a:ea typeface="Calibri" pitchFamily="34" charset="-122"/>
                <a:cs typeface="Calibri" pitchFamily="34" charset="-120"/>
              </a:rPr>
              <a:t>Keyword + prompt universes</a:t>
            </a:r>
            <a:endParaRPr lang="en-US" sz="1150" dirty="0"/>
          </a:p>
        </p:txBody>
      </p:sp>
      <p:sp>
        <p:nvSpPr>
          <p:cNvPr id="7" name="Shape 5"/>
          <p:cNvSpPr/>
          <p:nvPr/>
        </p:nvSpPr>
        <p:spPr>
          <a:xfrm>
            <a:off x="3410712" y="2286000"/>
            <a:ext cx="2542032" cy="3200400"/>
          </a:xfrm>
          <a:prstGeom prst="roundRect">
            <a:avLst>
              <a:gd name="adj" fmla="val 2878"/>
            </a:avLst>
          </a:prstGeom>
          <a:solidFill>
            <a:srgbClr val="151516"/>
          </a:solidFill>
          <a:ln w="9525">
            <a:solidFill>
              <a:srgbClr val="2A2A2C"/>
            </a:solidFill>
            <a:prstDash val="solid"/>
          </a:ln>
        </p:spPr>
      </p:sp>
      <p:sp>
        <p:nvSpPr>
          <p:cNvPr id="8" name="Text 6"/>
          <p:cNvSpPr txBox="1"/>
          <p:nvPr/>
        </p:nvSpPr>
        <p:spPr>
          <a:xfrm>
            <a:off x="3666744" y="2542032"/>
            <a:ext cx="2011680" cy="310896"/>
          </a:xfrm>
          <a:prstGeom prst="rect">
            <a:avLst/>
          </a:prstGeom>
          <a:noFill/>
          <a:ln/>
        </p:spPr>
        <p:txBody>
          <a:bodyPr wrap="square" lIns="0" tIns="0" rIns="0" bIns="0" rtlCol="0" anchor="ctr"/>
          <a:lstStyle/>
          <a:p>
            <a:pPr indent="0" marL="0">
              <a:buNone/>
            </a:pPr>
            <a:r>
              <a:rPr lang="en-US" sz="1100" b="1" spc="180" kern="0" dirty="0">
                <a:solidFill>
                  <a:srgbClr val="BE9247"/>
                </a:solidFill>
                <a:latin typeface="Courier New" pitchFamily="34" charset="0"/>
                <a:ea typeface="Courier New" pitchFamily="34" charset="-122"/>
                <a:cs typeface="Courier New" pitchFamily="34" charset="-120"/>
              </a:rPr>
              <a:t>MAKE</a:t>
            </a:r>
            <a:endParaRPr lang="en-US" sz="1100" dirty="0"/>
          </a:p>
        </p:txBody>
      </p:sp>
      <p:sp>
        <p:nvSpPr>
          <p:cNvPr id="9" name="Text 7"/>
          <p:cNvSpPr txBox="1"/>
          <p:nvPr/>
        </p:nvSpPr>
        <p:spPr>
          <a:xfrm>
            <a:off x="3666744" y="2944368"/>
            <a:ext cx="2048256" cy="2286000"/>
          </a:xfrm>
          <a:prstGeom prst="rect">
            <a:avLst/>
          </a:prstGeom>
          <a:noFill/>
          <a:ln/>
        </p:spPr>
        <p:txBody>
          <a:bodyPr wrap="square" lIns="0" tIns="0" rIns="0" bIns="0" rtlCol="0" anchor="ctr"/>
          <a:lstStyle/>
          <a:p>
            <a:pPr marL="342900" indent="-342900">
              <a:lnSpc>
                <a:spcPts val="1500"/>
              </a:lnSpc>
              <a:spcAft>
                <a:spcPts val="800"/>
              </a:spcAft>
              <a:buSzPct val="100000"/>
              <a:buChar char="•"/>
            </a:pPr>
            <a:r>
              <a:rPr lang="en-US" sz="1150" dirty="0">
                <a:solidFill>
                  <a:srgbClr val="9C9C97"/>
                </a:solidFill>
                <a:latin typeface="Calibri" pitchFamily="34" charset="0"/>
                <a:ea typeface="Calibri" pitchFamily="34" charset="-122"/>
                <a:cs typeface="Calibri" pitchFamily="34" charset="-120"/>
              </a:rPr>
              <a:t>Ads, emails, landing pages</a:t>
            </a:r>
            <a:endParaRPr lang="en-US" sz="1150" dirty="0"/>
          </a:p>
          <a:p>
            <a:pPr indent="0" marL="0">
              <a:lnSpc>
                <a:spcPts val="1500"/>
              </a:lnSpc>
              <a:spcAft>
                <a:spcPts val="800"/>
              </a:spcAft>
              <a:buNone/>
            </a:pPr>
            <a:r>
              <a:rPr lang="en-US" sz="1150" dirty="0">
                <a:solidFill>
                  <a:srgbClr val="9C9C97"/>
                </a:solidFill>
                <a:latin typeface="Calibri" pitchFamily="34" charset="0"/>
                <a:ea typeface="Calibri" pitchFamily="34" charset="-122"/>
                <a:cs typeface="Calibri" pitchFamily="34" charset="-120"/>
              </a:rPr>
              <a:t>Images and brand content</a:t>
            </a:r>
            <a:endParaRPr lang="en-US" sz="1150" dirty="0"/>
          </a:p>
          <a:p>
            <a:pPr indent="0" marL="0">
              <a:lnSpc>
                <a:spcPts val="1500"/>
              </a:lnSpc>
              <a:spcAft>
                <a:spcPts val="800"/>
              </a:spcAft>
              <a:buNone/>
            </a:pPr>
            <a:r>
              <a:rPr lang="en-US" sz="1150" dirty="0">
                <a:solidFill>
                  <a:srgbClr val="9C9C97"/>
                </a:solidFill>
                <a:latin typeface="Calibri" pitchFamily="34" charset="0"/>
                <a:ea typeface="Calibri" pitchFamily="34" charset="-122"/>
                <a:cs typeface="Calibri" pitchFamily="34" charset="-120"/>
              </a:rPr>
              <a:t>Vertical clips from long video</a:t>
            </a:r>
            <a:endParaRPr lang="en-US" sz="1150" dirty="0"/>
          </a:p>
          <a:p>
            <a:pPr indent="0" marL="0">
              <a:lnSpc>
                <a:spcPts val="1500"/>
              </a:lnSpc>
              <a:spcAft>
                <a:spcPts val="800"/>
              </a:spcAft>
              <a:buNone/>
            </a:pPr>
            <a:r>
              <a:rPr lang="en-US" sz="1150" dirty="0">
                <a:solidFill>
                  <a:srgbClr val="9C9C97"/>
                </a:solidFill>
                <a:latin typeface="Calibri" pitchFamily="34" charset="0"/>
                <a:ea typeface="Calibri" pitchFamily="34" charset="-122"/>
                <a:cs typeface="Calibri" pitchFamily="34" charset="-120"/>
              </a:rPr>
              <a:t>Print-ready flyers, in millimetres</a:t>
            </a:r>
            <a:endParaRPr lang="en-US" sz="1150" dirty="0"/>
          </a:p>
        </p:txBody>
      </p:sp>
      <p:sp>
        <p:nvSpPr>
          <p:cNvPr id="10" name="Shape 8"/>
          <p:cNvSpPr/>
          <p:nvPr/>
        </p:nvSpPr>
        <p:spPr>
          <a:xfrm>
            <a:off x="6181344" y="2286000"/>
            <a:ext cx="2542032" cy="3200400"/>
          </a:xfrm>
          <a:prstGeom prst="roundRect">
            <a:avLst>
              <a:gd name="adj" fmla="val 2878"/>
            </a:avLst>
          </a:prstGeom>
          <a:solidFill>
            <a:srgbClr val="151516"/>
          </a:solidFill>
          <a:ln w="9525">
            <a:solidFill>
              <a:srgbClr val="2A2A2C"/>
            </a:solidFill>
            <a:prstDash val="solid"/>
          </a:ln>
        </p:spPr>
      </p:sp>
      <p:sp>
        <p:nvSpPr>
          <p:cNvPr id="11" name="Text 9"/>
          <p:cNvSpPr txBox="1"/>
          <p:nvPr/>
        </p:nvSpPr>
        <p:spPr>
          <a:xfrm>
            <a:off x="6437376" y="2542032"/>
            <a:ext cx="2011680" cy="310896"/>
          </a:xfrm>
          <a:prstGeom prst="rect">
            <a:avLst/>
          </a:prstGeom>
          <a:noFill/>
          <a:ln/>
        </p:spPr>
        <p:txBody>
          <a:bodyPr wrap="square" lIns="0" tIns="0" rIns="0" bIns="0" rtlCol="0" anchor="ctr"/>
          <a:lstStyle/>
          <a:p>
            <a:pPr indent="0" marL="0">
              <a:buNone/>
            </a:pPr>
            <a:r>
              <a:rPr lang="en-US" sz="1100" b="1" spc="180" kern="0" dirty="0">
                <a:solidFill>
                  <a:srgbClr val="BE9247"/>
                </a:solidFill>
                <a:latin typeface="Courier New" pitchFamily="34" charset="0"/>
                <a:ea typeface="Courier New" pitchFamily="34" charset="-122"/>
                <a:cs typeface="Courier New" pitchFamily="34" charset="-120"/>
              </a:rPr>
              <a:t>SEND</a:t>
            </a:r>
            <a:endParaRPr lang="en-US" sz="1100" dirty="0"/>
          </a:p>
        </p:txBody>
      </p:sp>
      <p:sp>
        <p:nvSpPr>
          <p:cNvPr id="12" name="Text 10"/>
          <p:cNvSpPr txBox="1"/>
          <p:nvPr/>
        </p:nvSpPr>
        <p:spPr>
          <a:xfrm>
            <a:off x="6437376" y="2944368"/>
            <a:ext cx="2048256" cy="2286000"/>
          </a:xfrm>
          <a:prstGeom prst="rect">
            <a:avLst/>
          </a:prstGeom>
          <a:noFill/>
          <a:ln/>
        </p:spPr>
        <p:txBody>
          <a:bodyPr wrap="square" lIns="0" tIns="0" rIns="0" bIns="0" rtlCol="0" anchor="ctr"/>
          <a:lstStyle/>
          <a:p>
            <a:pPr marL="342900" indent="-342900">
              <a:lnSpc>
                <a:spcPts val="1500"/>
              </a:lnSpc>
              <a:spcAft>
                <a:spcPts val="800"/>
              </a:spcAft>
              <a:buSzPct val="100000"/>
              <a:buChar char="•"/>
            </a:pPr>
            <a:r>
              <a:rPr lang="en-US" sz="1150" dirty="0">
                <a:solidFill>
                  <a:srgbClr val="9C9C97"/>
                </a:solidFill>
                <a:latin typeface="Calibri" pitchFamily="34" charset="0"/>
                <a:ea typeface="Calibri" pitchFamily="34" charset="-122"/>
                <a:cs typeface="Calibri" pitchFamily="34" charset="-120"/>
              </a:rPr>
              <a:t>Email from your own domain</a:t>
            </a:r>
            <a:endParaRPr lang="en-US" sz="1150" dirty="0"/>
          </a:p>
          <a:p>
            <a:pPr indent="0" marL="0">
              <a:lnSpc>
                <a:spcPts val="1500"/>
              </a:lnSpc>
              <a:spcAft>
                <a:spcPts val="800"/>
              </a:spcAft>
              <a:buNone/>
            </a:pPr>
            <a:r>
              <a:rPr lang="en-US" sz="1150" dirty="0">
                <a:solidFill>
                  <a:srgbClr val="9C9C97"/>
                </a:solidFill>
                <a:latin typeface="Calibri" pitchFamily="34" charset="0"/>
                <a:ea typeface="Calibri" pitchFamily="34" charset="-122"/>
                <a:cs typeface="Calibri" pitchFamily="34" charset="-120"/>
              </a:rPr>
              <a:t>Social publishing</a:t>
            </a:r>
            <a:endParaRPr lang="en-US" sz="1150" dirty="0"/>
          </a:p>
          <a:p>
            <a:pPr indent="0" marL="0">
              <a:lnSpc>
                <a:spcPts val="1500"/>
              </a:lnSpc>
              <a:spcAft>
                <a:spcPts val="800"/>
              </a:spcAft>
              <a:buNone/>
            </a:pPr>
            <a:r>
              <a:rPr lang="en-US" sz="1150" dirty="0">
                <a:solidFill>
                  <a:srgbClr val="9C9C97"/>
                </a:solidFill>
                <a:latin typeface="Calibri" pitchFamily="34" charset="0"/>
                <a:ea typeface="Calibri" pitchFamily="34" charset="-122"/>
                <a:cs typeface="Calibri" pitchFamily="34" charset="-120"/>
              </a:rPr>
              <a:t>WhatsApp funnels</a:t>
            </a:r>
            <a:endParaRPr lang="en-US" sz="1150" dirty="0"/>
          </a:p>
          <a:p>
            <a:pPr indent="0" marL="0">
              <a:lnSpc>
                <a:spcPts val="1500"/>
              </a:lnSpc>
              <a:spcAft>
                <a:spcPts val="800"/>
              </a:spcAft>
              <a:buNone/>
            </a:pPr>
            <a:r>
              <a:rPr lang="en-US" sz="1150" dirty="0">
                <a:solidFill>
                  <a:srgbClr val="9C9C97"/>
                </a:solidFill>
                <a:latin typeface="Calibri" pitchFamily="34" charset="0"/>
                <a:ea typeface="Calibri" pitchFamily="34" charset="-122"/>
                <a:cs typeface="Calibri" pitchFamily="34" charset="-120"/>
              </a:rPr>
              <a:t>Review requests, where permitted</a:t>
            </a:r>
            <a:endParaRPr lang="en-US" sz="1150" dirty="0"/>
          </a:p>
        </p:txBody>
      </p:sp>
      <p:sp>
        <p:nvSpPr>
          <p:cNvPr id="13" name="Shape 11"/>
          <p:cNvSpPr/>
          <p:nvPr/>
        </p:nvSpPr>
        <p:spPr>
          <a:xfrm>
            <a:off x="8951976" y="2286000"/>
            <a:ext cx="2542032" cy="3200400"/>
          </a:xfrm>
          <a:prstGeom prst="roundRect">
            <a:avLst>
              <a:gd name="adj" fmla="val 2878"/>
            </a:avLst>
          </a:prstGeom>
          <a:solidFill>
            <a:srgbClr val="151516"/>
          </a:solidFill>
          <a:ln w="9525">
            <a:solidFill>
              <a:srgbClr val="2A2A2C"/>
            </a:solidFill>
            <a:prstDash val="solid"/>
          </a:ln>
        </p:spPr>
      </p:sp>
      <p:sp>
        <p:nvSpPr>
          <p:cNvPr id="14" name="Text 12"/>
          <p:cNvSpPr txBox="1"/>
          <p:nvPr/>
        </p:nvSpPr>
        <p:spPr>
          <a:xfrm>
            <a:off x="9208008" y="2542032"/>
            <a:ext cx="2011680" cy="310896"/>
          </a:xfrm>
          <a:prstGeom prst="rect">
            <a:avLst/>
          </a:prstGeom>
          <a:noFill/>
          <a:ln/>
        </p:spPr>
        <p:txBody>
          <a:bodyPr wrap="square" lIns="0" tIns="0" rIns="0" bIns="0" rtlCol="0" anchor="ctr"/>
          <a:lstStyle/>
          <a:p>
            <a:pPr indent="0" marL="0">
              <a:buNone/>
            </a:pPr>
            <a:r>
              <a:rPr lang="en-US" sz="1100" b="1" spc="180" kern="0" dirty="0">
                <a:solidFill>
                  <a:srgbClr val="BE9247"/>
                </a:solidFill>
                <a:latin typeface="Courier New" pitchFamily="34" charset="0"/>
                <a:ea typeface="Courier New" pitchFamily="34" charset="-122"/>
                <a:cs typeface="Courier New" pitchFamily="34" charset="-120"/>
              </a:rPr>
              <a:t>PROVE</a:t>
            </a:r>
            <a:endParaRPr lang="en-US" sz="1100" dirty="0"/>
          </a:p>
        </p:txBody>
      </p:sp>
      <p:sp>
        <p:nvSpPr>
          <p:cNvPr id="15" name="Text 13"/>
          <p:cNvSpPr txBox="1"/>
          <p:nvPr/>
        </p:nvSpPr>
        <p:spPr>
          <a:xfrm>
            <a:off x="9208008" y="2944368"/>
            <a:ext cx="2048256" cy="2286000"/>
          </a:xfrm>
          <a:prstGeom prst="rect">
            <a:avLst/>
          </a:prstGeom>
          <a:noFill/>
          <a:ln/>
        </p:spPr>
        <p:txBody>
          <a:bodyPr wrap="square" lIns="0" tIns="0" rIns="0" bIns="0" rtlCol="0" anchor="ctr"/>
          <a:lstStyle/>
          <a:p>
            <a:pPr marL="342900" indent="-342900">
              <a:lnSpc>
                <a:spcPts val="1500"/>
              </a:lnSpc>
              <a:spcAft>
                <a:spcPts val="800"/>
              </a:spcAft>
              <a:buSzPct val="100000"/>
              <a:buChar char="•"/>
            </a:pPr>
            <a:r>
              <a:rPr lang="en-US" sz="1150" dirty="0">
                <a:solidFill>
                  <a:srgbClr val="9C9C97"/>
                </a:solidFill>
                <a:latin typeface="Calibri" pitchFamily="34" charset="0"/>
                <a:ea typeface="Calibri" pitchFamily="34" charset="-122"/>
                <a:cs typeface="Calibri" pitchFamily="34" charset="-120"/>
              </a:rPr>
              <a:t>Money ledger, recorded revenue only</a:t>
            </a:r>
            <a:endParaRPr lang="en-US" sz="1150" dirty="0"/>
          </a:p>
          <a:p>
            <a:pPr indent="0" marL="0">
              <a:lnSpc>
                <a:spcPts val="1500"/>
              </a:lnSpc>
              <a:spcAft>
                <a:spcPts val="800"/>
              </a:spcAft>
              <a:buNone/>
            </a:pPr>
            <a:r>
              <a:rPr lang="en-US" sz="1150" dirty="0">
                <a:solidFill>
                  <a:srgbClr val="9C9C97"/>
                </a:solidFill>
                <a:latin typeface="Calibri" pitchFamily="34" charset="0"/>
                <a:ea typeface="Calibri" pitchFamily="34" charset="-122"/>
                <a:cs typeface="Calibri" pitchFamily="34" charset="-120"/>
              </a:rPr>
              <a:t>Per-agent cost and impact</a:t>
            </a:r>
            <a:endParaRPr lang="en-US" sz="1150" dirty="0"/>
          </a:p>
          <a:p>
            <a:pPr indent="0" marL="0">
              <a:lnSpc>
                <a:spcPts val="1500"/>
              </a:lnSpc>
              <a:spcAft>
                <a:spcPts val="800"/>
              </a:spcAft>
              <a:buNone/>
            </a:pPr>
            <a:r>
              <a:rPr lang="en-US" sz="1150" dirty="0">
                <a:solidFill>
                  <a:srgbClr val="9C9C97"/>
                </a:solidFill>
                <a:latin typeface="Calibri" pitchFamily="34" charset="0"/>
                <a:ea typeface="Calibri" pitchFamily="34" charset="-122"/>
                <a:cs typeface="Calibri" pitchFamily="34" charset="-120"/>
              </a:rPr>
              <a:t>Attribution, or an honest null</a:t>
            </a:r>
            <a:endParaRPr lang="en-US" sz="1150" dirty="0"/>
          </a:p>
          <a:p>
            <a:pPr indent="0" marL="0">
              <a:lnSpc>
                <a:spcPts val="1500"/>
              </a:lnSpc>
              <a:spcAft>
                <a:spcPts val="800"/>
              </a:spcAft>
              <a:buNone/>
            </a:pPr>
            <a:r>
              <a:rPr lang="en-US" sz="1150" dirty="0">
                <a:solidFill>
                  <a:srgbClr val="9C9C97"/>
                </a:solidFill>
                <a:latin typeface="Calibri" pitchFamily="34" charset="0"/>
                <a:ea typeface="Calibri" pitchFamily="34" charset="-122"/>
                <a:cs typeface="Calibri" pitchFamily="34" charset="-120"/>
              </a:rPr>
              <a:t>Emergency stop on spend</a:t>
            </a:r>
            <a:endParaRPr lang="en-US" sz="1150" dirty="0"/>
          </a:p>
        </p:txBody>
      </p:sp>
      <p:sp>
        <p:nvSpPr>
          <p:cNvPr id="16" name="Text 14"/>
          <p:cNvSpPr txBox="1"/>
          <p:nvPr/>
        </p:nvSpPr>
        <p:spPr>
          <a:xfrm>
            <a:off x="640080" y="6291072"/>
            <a:ext cx="10881360" cy="274320"/>
          </a:xfrm>
          <a:prstGeom prst="rect">
            <a:avLst/>
          </a:prstGeom>
          <a:noFill/>
          <a:ln/>
        </p:spPr>
        <p:txBody>
          <a:bodyPr wrap="square" lIns="0" tIns="0" rIns="0" bIns="0" rtlCol="0" anchor="ctr"/>
          <a:lstStyle/>
          <a:p>
            <a:pPr indent="0" marL="0">
              <a:buNone/>
            </a:pPr>
            <a:r>
              <a:rPr lang="en-US" sz="1000" dirty="0">
                <a:solidFill>
                  <a:srgbClr val="7A7A75"/>
                </a:solidFill>
                <a:latin typeface="Calibri" pitchFamily="34" charset="0"/>
                <a:ea typeface="Calibri" pitchFamily="34" charset="-122"/>
                <a:cs typeface="Calibri" pitchFamily="34" charset="-120"/>
              </a:rPr>
              <a:t>They draft. Anything that would spend, send or publish waits for you.</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B"/>
        </a:solidFill>
      </p:bgPr>
    </p:bg>
    <p:spTree>
      <p:nvGrpSpPr>
        <p:cNvPr id="1" name=""/>
        <p:cNvGrpSpPr/>
        <p:nvPr/>
      </p:nvGrpSpPr>
      <p:grpSpPr>
        <a:xfrm>
          <a:off x="0" y="0"/>
          <a:ext cx="0" cy="0"/>
          <a:chOff x="0" y="0"/>
          <a:chExt cx="0" cy="0"/>
        </a:xfrm>
      </p:grpSpPr>
      <p:sp>
        <p:nvSpPr>
          <p:cNvPr id="2" name="Text 0"/>
          <p:cNvSpPr txBox="1"/>
          <p:nvPr/>
        </p:nvSpPr>
        <p:spPr>
          <a:xfrm>
            <a:off x="640080" y="475488"/>
            <a:ext cx="7315200" cy="256032"/>
          </a:xfrm>
          <a:prstGeom prst="rect">
            <a:avLst/>
          </a:prstGeom>
          <a:noFill/>
          <a:ln/>
        </p:spPr>
        <p:txBody>
          <a:bodyPr wrap="square" lIns="0" tIns="0" rIns="0" bIns="0" rtlCol="0" anchor="ctr"/>
          <a:lstStyle/>
          <a:p>
            <a:pPr indent="0" marL="0">
              <a:buNone/>
            </a:pPr>
            <a:r>
              <a:rPr lang="en-US" sz="1050" b="1" spc="220" kern="0" dirty="0">
                <a:solidFill>
                  <a:srgbClr val="BE9247"/>
                </a:solidFill>
                <a:latin typeface="Courier New" pitchFamily="34" charset="0"/>
                <a:ea typeface="Courier New" pitchFamily="34" charset="-122"/>
                <a:cs typeface="Courier New" pitchFamily="34" charset="-120"/>
              </a:rPr>
              <a:t>THE ONE NOBODY ELSE IS MEASURING</a:t>
            </a:r>
            <a:endParaRPr lang="en-US" sz="1050" dirty="0"/>
          </a:p>
        </p:txBody>
      </p:sp>
      <p:sp>
        <p:nvSpPr>
          <p:cNvPr id="3" name="Text 1"/>
          <p:cNvSpPr txBox="1"/>
          <p:nvPr/>
        </p:nvSpPr>
        <p:spPr>
          <a:xfrm>
            <a:off x="640080" y="841248"/>
            <a:ext cx="6583680" cy="1417320"/>
          </a:xfrm>
          <a:prstGeom prst="rect">
            <a:avLst/>
          </a:prstGeom>
          <a:noFill/>
          <a:ln/>
        </p:spPr>
        <p:txBody>
          <a:bodyPr wrap="square" lIns="0" tIns="0" rIns="0" bIns="0" rtlCol="0" anchor="ctr"/>
          <a:lstStyle/>
          <a:p>
            <a:pPr indent="0" marL="0">
              <a:lnSpc>
                <a:spcPts val="3808"/>
              </a:lnSpc>
              <a:buNone/>
            </a:pPr>
            <a:r>
              <a:rPr lang="en-US" sz="3400" b="1" dirty="0">
                <a:solidFill>
                  <a:srgbClr val="EFEFED"/>
                </a:solidFill>
                <a:latin typeface="Arial" pitchFamily="34" charset="0"/>
                <a:ea typeface="Arial" pitchFamily="34" charset="-122"/>
                <a:cs typeface="Arial" pitchFamily="34" charset="-120"/>
              </a:rPr>
              <a:t>Your customers now ask</a:t>
            </a:r>
            <a:endParaRPr lang="en-US" sz="3400" dirty="0"/>
          </a:p>
          <a:p>
            <a:pPr indent="0" marL="0">
              <a:lnSpc>
                <a:spcPts val="3808"/>
              </a:lnSpc>
              <a:buNone/>
            </a:pPr>
            <a:r>
              <a:rPr lang="en-US" sz="3400" b="1" dirty="0">
                <a:solidFill>
                  <a:srgbClr val="EFEFED"/>
                </a:solidFill>
                <a:latin typeface="Arial" pitchFamily="34" charset="0"/>
                <a:ea typeface="Arial" pitchFamily="34" charset="-122"/>
                <a:cs typeface="Arial" pitchFamily="34" charset="-120"/>
              </a:rPr>
              <a:t>an assistant, not Google.</a:t>
            </a:r>
            <a:endParaRPr lang="en-US" sz="3400" dirty="0"/>
          </a:p>
        </p:txBody>
      </p:sp>
      <p:sp>
        <p:nvSpPr>
          <p:cNvPr id="4" name="Text 2"/>
          <p:cNvSpPr txBox="1"/>
          <p:nvPr/>
        </p:nvSpPr>
        <p:spPr>
          <a:xfrm>
            <a:off x="640080" y="2377440"/>
            <a:ext cx="6309360" cy="1463040"/>
          </a:xfrm>
          <a:prstGeom prst="rect">
            <a:avLst/>
          </a:prstGeom>
          <a:noFill/>
          <a:ln/>
        </p:spPr>
        <p:txBody>
          <a:bodyPr wrap="square" lIns="0" tIns="0" rIns="0" bIns="0" rtlCol="0" anchor="ctr"/>
          <a:lstStyle/>
          <a:p>
            <a:pPr indent="0" marL="0">
              <a:lnSpc>
                <a:spcPts val="2100"/>
              </a:lnSpc>
              <a:buNone/>
            </a:pPr>
            <a:r>
              <a:rPr lang="en-US" sz="1400" dirty="0">
                <a:solidFill>
                  <a:srgbClr val="9C9C97"/>
                </a:solidFill>
                <a:latin typeface="Calibri" pitchFamily="34" charset="0"/>
                <a:ea typeface="Calibri" pitchFamily="34" charset="-122"/>
                <a:cs typeface="Calibri" pitchFamily="34" charset="-120"/>
              </a:rPr>
              <a:t>When somebody asks ChatGPT, Claude or Gemini who to use, the answer is assembled from pages the assistant's crawler was allowed to fetch and could actually read. A site can rank perfectly on Google and be completely absent from that answer.</a:t>
            </a:r>
            <a:endParaRPr lang="en-US" sz="1400" dirty="0"/>
          </a:p>
        </p:txBody>
      </p:sp>
      <p:sp>
        <p:nvSpPr>
          <p:cNvPr id="5" name="Text 3"/>
          <p:cNvSpPr txBox="1"/>
          <p:nvPr/>
        </p:nvSpPr>
        <p:spPr>
          <a:xfrm>
            <a:off x="640080" y="3977640"/>
            <a:ext cx="6309360" cy="1005840"/>
          </a:xfrm>
          <a:prstGeom prst="rect">
            <a:avLst/>
          </a:prstGeom>
          <a:noFill/>
          <a:ln/>
        </p:spPr>
        <p:txBody>
          <a:bodyPr wrap="square" lIns="0" tIns="0" rIns="0" bIns="0" rtlCol="0" anchor="ctr"/>
          <a:lstStyle/>
          <a:p>
            <a:pPr indent="0" marL="0">
              <a:lnSpc>
                <a:spcPts val="2100"/>
              </a:lnSpc>
              <a:buNone/>
            </a:pPr>
            <a:r>
              <a:rPr lang="en-US" sz="1400" dirty="0">
                <a:solidFill>
                  <a:srgbClr val="EFEFED"/>
                </a:solidFill>
                <a:latin typeface="Calibri" pitchFamily="34" charset="0"/>
                <a:ea typeface="Calibri" pitchFamily="34" charset="-122"/>
                <a:cs typeface="Calibri" pitchFamily="34" charset="-120"/>
              </a:rPr>
              <a:t>We check whether ten named AI crawlers can read you — by parsing your robots.txt, not by pattern-matching it — and we say what to change.</a:t>
            </a:r>
            <a:endParaRPr lang="en-US" sz="1400" dirty="0"/>
          </a:p>
        </p:txBody>
      </p:sp>
      <p:sp>
        <p:nvSpPr>
          <p:cNvPr id="6" name="Shape 4"/>
          <p:cNvSpPr/>
          <p:nvPr/>
        </p:nvSpPr>
        <p:spPr>
          <a:xfrm>
            <a:off x="7360920" y="2286000"/>
            <a:ext cx="4160520" cy="3246120"/>
          </a:xfrm>
          <a:prstGeom prst="roundRect">
            <a:avLst>
              <a:gd name="adj" fmla="val 2254"/>
            </a:avLst>
          </a:prstGeom>
          <a:solidFill>
            <a:srgbClr val="151516"/>
          </a:solidFill>
          <a:ln w="9525">
            <a:solidFill>
              <a:srgbClr val="2A2A2C"/>
            </a:solidFill>
            <a:prstDash val="solid"/>
          </a:ln>
        </p:spPr>
      </p:sp>
      <p:sp>
        <p:nvSpPr>
          <p:cNvPr id="7" name="Text 5"/>
          <p:cNvSpPr txBox="1"/>
          <p:nvPr/>
        </p:nvSpPr>
        <p:spPr>
          <a:xfrm>
            <a:off x="7662672" y="2578608"/>
            <a:ext cx="3566160" cy="329184"/>
          </a:xfrm>
          <a:prstGeom prst="rect">
            <a:avLst/>
          </a:prstGeom>
          <a:noFill/>
          <a:ln/>
        </p:spPr>
        <p:txBody>
          <a:bodyPr wrap="square" lIns="0" tIns="0" rIns="0" bIns="0" rtlCol="0" anchor="ctr"/>
          <a:lstStyle/>
          <a:p>
            <a:pPr indent="0" marL="0">
              <a:buNone/>
            </a:pPr>
            <a:r>
              <a:rPr lang="en-US" sz="1500" b="1" dirty="0">
                <a:solidFill>
                  <a:srgbClr val="BE9247"/>
                </a:solidFill>
                <a:latin typeface="Arial" pitchFamily="34" charset="0"/>
                <a:ea typeface="Arial" pitchFamily="34" charset="-122"/>
                <a:cs typeface="Arial" pitchFamily="34" charset="-120"/>
              </a:rPr>
              <a:t>What we will NOT claim</a:t>
            </a:r>
            <a:endParaRPr lang="en-US" sz="1500" dirty="0"/>
          </a:p>
        </p:txBody>
      </p:sp>
      <p:sp>
        <p:nvSpPr>
          <p:cNvPr id="8" name="Text 6"/>
          <p:cNvSpPr txBox="1"/>
          <p:nvPr/>
        </p:nvSpPr>
        <p:spPr>
          <a:xfrm>
            <a:off x="7662672" y="3017520"/>
            <a:ext cx="3566160" cy="2286000"/>
          </a:xfrm>
          <a:prstGeom prst="rect">
            <a:avLst/>
          </a:prstGeom>
          <a:noFill/>
          <a:ln/>
        </p:spPr>
        <p:txBody>
          <a:bodyPr wrap="square" lIns="0" tIns="0" rIns="0" bIns="0" rtlCol="0" anchor="ctr"/>
          <a:lstStyle/>
          <a:p>
            <a:pPr indent="0" marL="0">
              <a:lnSpc>
                <a:spcPts val="1700"/>
              </a:lnSpc>
              <a:buNone/>
            </a:pPr>
            <a:r>
              <a:rPr lang="en-US" sz="1200" dirty="0">
                <a:solidFill>
                  <a:srgbClr val="9C9C97"/>
                </a:solidFill>
                <a:latin typeface="Calibri" pitchFamily="34" charset="0"/>
                <a:ea typeface="Calibri" pitchFamily="34" charset="-122"/>
                <a:cs typeface="Calibri" pitchFamily="34" charset="-120"/>
              </a:rPr>
              <a:t>That you are being cited, or how often, or for which questions. Answering that means asking the assistants, which costs real AI calls and belongs to the paid engines.</a:t>
            </a:r>
            <a:endParaRPr lang="en-US" sz="1200" dirty="0"/>
          </a:p>
          <a:p>
            <a:pPr indent="0" marL="0">
              <a:lnSpc>
                <a:spcPts val="1700"/>
              </a:lnSpc>
              <a:buNone/>
            </a:pPr>
            <a:endParaRPr lang="en-US" sz="1200" dirty="0"/>
          </a:p>
          <a:p>
            <a:pPr indent="0" marL="0">
              <a:lnSpc>
                <a:spcPts val="1700"/>
              </a:lnSpc>
              <a:buNone/>
            </a:pPr>
            <a:r>
              <a:rPr lang="en-US" sz="1200" dirty="0">
                <a:solidFill>
                  <a:srgbClr val="9C9C97"/>
                </a:solidFill>
                <a:latin typeface="Calibri" pitchFamily="34" charset="0"/>
                <a:ea typeface="Calibri" pitchFamily="34" charset="-122"/>
                <a:cs typeface="Calibri" pitchFamily="34" charset="-120"/>
              </a:rPr>
              <a:t>The free audit answers the narrow, measurable question — CAN they read you — and says so in exactly those words.</a:t>
            </a:r>
            <a:endParaRPr lang="en-US" sz="1200" dirty="0"/>
          </a:p>
        </p:txBody>
      </p:sp>
      <p:sp>
        <p:nvSpPr>
          <p:cNvPr id="9" name="Text 7"/>
          <p:cNvSpPr txBox="1"/>
          <p:nvPr/>
        </p:nvSpPr>
        <p:spPr>
          <a:xfrm>
            <a:off x="640080" y="6291072"/>
            <a:ext cx="10881360" cy="274320"/>
          </a:xfrm>
          <a:prstGeom prst="rect">
            <a:avLst/>
          </a:prstGeom>
          <a:noFill/>
          <a:ln/>
        </p:spPr>
        <p:txBody>
          <a:bodyPr wrap="square" lIns="0" tIns="0" rIns="0" bIns="0" rtlCol="0" anchor="ctr"/>
          <a:lstStyle/>
          <a:p>
            <a:pPr indent="0" marL="0">
              <a:buNone/>
            </a:pPr>
            <a:r>
              <a:rPr lang="en-US" sz="1000" dirty="0">
                <a:solidFill>
                  <a:srgbClr val="7A7A75"/>
                </a:solidFill>
                <a:latin typeface="Calibri" pitchFamily="34" charset="0"/>
                <a:ea typeface="Calibri" pitchFamily="34" charset="-122"/>
                <a:cs typeface="Calibri" pitchFamily="34" charset="-120"/>
              </a:rPr>
              <a:t>Google-Extended is the one most often blocked by accident — it changes nothing about your search ranking.</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B"/>
        </a:solidFill>
      </p:bgPr>
    </p:bg>
    <p:spTree>
      <p:nvGrpSpPr>
        <p:cNvPr id="1" name=""/>
        <p:cNvGrpSpPr/>
        <p:nvPr/>
      </p:nvGrpSpPr>
      <p:grpSpPr>
        <a:xfrm>
          <a:off x="0" y="0"/>
          <a:ext cx="0" cy="0"/>
          <a:chOff x="0" y="0"/>
          <a:chExt cx="0" cy="0"/>
        </a:xfrm>
      </p:grpSpPr>
      <p:sp>
        <p:nvSpPr>
          <p:cNvPr id="2" name="Text 0"/>
          <p:cNvSpPr txBox="1"/>
          <p:nvPr/>
        </p:nvSpPr>
        <p:spPr>
          <a:xfrm>
            <a:off x="640080" y="475488"/>
            <a:ext cx="7315200" cy="256032"/>
          </a:xfrm>
          <a:prstGeom prst="rect">
            <a:avLst/>
          </a:prstGeom>
          <a:noFill/>
          <a:ln/>
        </p:spPr>
        <p:txBody>
          <a:bodyPr wrap="square" lIns="0" tIns="0" rIns="0" bIns="0" rtlCol="0" anchor="ctr"/>
          <a:lstStyle/>
          <a:p>
            <a:pPr indent="0" marL="0">
              <a:buNone/>
            </a:pPr>
            <a:r>
              <a:rPr lang="en-US" sz="1050" b="1" spc="220" kern="0" dirty="0">
                <a:solidFill>
                  <a:srgbClr val="BE9247"/>
                </a:solidFill>
                <a:latin typeface="Courier New" pitchFamily="34" charset="0"/>
                <a:ea typeface="Courier New" pitchFamily="34" charset="-122"/>
                <a:cs typeface="Courier New" pitchFamily="34" charset="-120"/>
              </a:rPr>
              <a:t>EMAIL, WITHOUT A THIRD PARTY IN THE MIDDLE</a:t>
            </a:r>
            <a:endParaRPr lang="en-US" sz="1050" dirty="0"/>
          </a:p>
        </p:txBody>
      </p:sp>
      <p:sp>
        <p:nvSpPr>
          <p:cNvPr id="3" name="Text 1"/>
          <p:cNvSpPr txBox="1"/>
          <p:nvPr/>
        </p:nvSpPr>
        <p:spPr>
          <a:xfrm>
            <a:off x="640080" y="841248"/>
            <a:ext cx="10881360" cy="1417320"/>
          </a:xfrm>
          <a:prstGeom prst="rect">
            <a:avLst/>
          </a:prstGeom>
          <a:noFill/>
          <a:ln/>
        </p:spPr>
        <p:txBody>
          <a:bodyPr wrap="square" lIns="0" tIns="0" rIns="0" bIns="0" rtlCol="0" anchor="ctr"/>
          <a:lstStyle/>
          <a:p>
            <a:pPr indent="0" marL="0">
              <a:lnSpc>
                <a:spcPts val="4500"/>
              </a:lnSpc>
              <a:buNone/>
            </a:pPr>
            <a:r>
              <a:rPr lang="en-US" sz="4000" b="1" dirty="0">
                <a:solidFill>
                  <a:srgbClr val="EFEFED"/>
                </a:solidFill>
                <a:latin typeface="Arial" pitchFamily="34" charset="0"/>
                <a:ea typeface="Arial" pitchFamily="34" charset="-122"/>
                <a:cs typeface="Arial" pitchFamily="34" charset="-120"/>
              </a:rPr>
              <a:t>Sent as your domain.</a:t>
            </a:r>
            <a:endParaRPr lang="en-US" sz="4000" dirty="0"/>
          </a:p>
          <a:p>
            <a:pPr indent="0" marL="0">
              <a:lnSpc>
                <a:spcPts val="4500"/>
              </a:lnSpc>
              <a:buNone/>
            </a:pPr>
            <a:r>
              <a:rPr lang="en-US" sz="4000" b="1" dirty="0">
                <a:solidFill>
                  <a:srgbClr val="EFEFED"/>
                </a:solidFill>
                <a:latin typeface="Arial" pitchFamily="34" charset="0"/>
                <a:ea typeface="Arial" pitchFamily="34" charset="-122"/>
                <a:cs typeface="Arial" pitchFamily="34" charset="-120"/>
              </a:rPr>
              <a:t>Signed by your keys.</a:t>
            </a:r>
            <a:endParaRPr lang="en-US" sz="4000" dirty="0"/>
          </a:p>
        </p:txBody>
      </p:sp>
      <p:sp>
        <p:nvSpPr>
          <p:cNvPr id="4" name="Shape 2"/>
          <p:cNvSpPr/>
          <p:nvPr/>
        </p:nvSpPr>
        <p:spPr>
          <a:xfrm>
            <a:off x="640080" y="2386584"/>
            <a:ext cx="384048" cy="384048"/>
          </a:xfrm>
          <a:prstGeom prst="ellipse">
            <a:avLst/>
          </a:prstGeom>
          <a:solidFill>
            <a:srgbClr val="0A0A0B"/>
          </a:solidFill>
          <a:ln w="13970">
            <a:solidFill>
              <a:srgbClr val="BE9247"/>
            </a:solidFill>
            <a:prstDash val="solid"/>
          </a:ln>
        </p:spPr>
      </p:sp>
      <p:sp>
        <p:nvSpPr>
          <p:cNvPr id="5" name="Text 3"/>
          <p:cNvSpPr txBox="1"/>
          <p:nvPr/>
        </p:nvSpPr>
        <p:spPr>
          <a:xfrm>
            <a:off x="640080" y="2386584"/>
            <a:ext cx="384048" cy="384048"/>
          </a:xfrm>
          <a:prstGeom prst="rect">
            <a:avLst/>
          </a:prstGeom>
          <a:noFill/>
          <a:ln/>
        </p:spPr>
        <p:txBody>
          <a:bodyPr wrap="square" lIns="0" tIns="0" rIns="0" bIns="0" rtlCol="0" anchor="ctr"/>
          <a:lstStyle/>
          <a:p>
            <a:pPr algn="ctr" indent="0" marL="0">
              <a:buNone/>
            </a:pPr>
            <a:r>
              <a:rPr lang="en-US" sz="1200" b="1" dirty="0">
                <a:solidFill>
                  <a:srgbClr val="BE9247"/>
                </a:solidFill>
                <a:latin typeface="Courier New" pitchFamily="34" charset="0"/>
                <a:ea typeface="Courier New" pitchFamily="34" charset="-122"/>
                <a:cs typeface="Courier New" pitchFamily="34" charset="-120"/>
              </a:rPr>
              <a:t>1</a:t>
            </a:r>
            <a:endParaRPr lang="en-US" sz="1200" dirty="0"/>
          </a:p>
        </p:txBody>
      </p:sp>
      <p:sp>
        <p:nvSpPr>
          <p:cNvPr id="6" name="Text 4"/>
          <p:cNvSpPr txBox="1"/>
          <p:nvPr/>
        </p:nvSpPr>
        <p:spPr>
          <a:xfrm>
            <a:off x="1261872" y="2331720"/>
            <a:ext cx="3017520" cy="384048"/>
          </a:xfrm>
          <a:prstGeom prst="rect">
            <a:avLst/>
          </a:prstGeom>
          <a:noFill/>
          <a:ln/>
        </p:spPr>
        <p:txBody>
          <a:bodyPr wrap="square" lIns="0" tIns="0" rIns="0" bIns="0" rtlCol="0" anchor="ctr"/>
          <a:lstStyle/>
          <a:p>
            <a:pPr indent="0" marL="0">
              <a:buNone/>
            </a:pPr>
            <a:r>
              <a:rPr lang="en-US" sz="1550" b="1" dirty="0">
                <a:solidFill>
                  <a:srgbClr val="EFEFED"/>
                </a:solidFill>
                <a:latin typeface="Arial" pitchFamily="34" charset="0"/>
                <a:ea typeface="Arial" pitchFamily="34" charset="-122"/>
                <a:cs typeface="Arial" pitchFamily="34" charset="-120"/>
              </a:rPr>
              <a:t>Your domain</a:t>
            </a:r>
            <a:endParaRPr lang="en-US" sz="1550" dirty="0"/>
          </a:p>
        </p:txBody>
      </p:sp>
      <p:sp>
        <p:nvSpPr>
          <p:cNvPr id="7" name="Text 5"/>
          <p:cNvSpPr txBox="1"/>
          <p:nvPr/>
        </p:nvSpPr>
        <p:spPr>
          <a:xfrm>
            <a:off x="4434840" y="2304288"/>
            <a:ext cx="7040880" cy="914400"/>
          </a:xfrm>
          <a:prstGeom prst="rect">
            <a:avLst/>
          </a:prstGeom>
          <a:noFill/>
          <a:ln/>
        </p:spPr>
        <p:txBody>
          <a:bodyPr wrap="square" lIns="0" tIns="0" rIns="0" bIns="0" rtlCol="0" anchor="ctr"/>
          <a:lstStyle/>
          <a:p>
            <a:pPr indent="0" marL="0">
              <a:lnSpc>
                <a:spcPts val="1700"/>
              </a:lnSpc>
              <a:buNone/>
            </a:pPr>
            <a:r>
              <a:rPr lang="en-US" sz="1250" dirty="0">
                <a:solidFill>
                  <a:srgbClr val="9C9C97"/>
                </a:solidFill>
                <a:latin typeface="Calibri" pitchFamily="34" charset="0"/>
                <a:ea typeface="Calibri" pitchFamily="34" charset="-122"/>
                <a:cs typeface="Calibri" pitchFamily="34" charset="-120"/>
              </a:rPr>
              <a:t>SPF, DKIM and DMARC on your own sending domain — so mail arrives as you, not as a platform forwarding on your behalf.</a:t>
            </a:r>
            <a:endParaRPr lang="en-US" sz="1250" dirty="0"/>
          </a:p>
        </p:txBody>
      </p:sp>
      <p:sp>
        <p:nvSpPr>
          <p:cNvPr id="8" name="Shape 6"/>
          <p:cNvSpPr/>
          <p:nvPr/>
        </p:nvSpPr>
        <p:spPr>
          <a:xfrm>
            <a:off x="640080" y="3557016"/>
            <a:ext cx="384048" cy="384048"/>
          </a:xfrm>
          <a:prstGeom prst="ellipse">
            <a:avLst/>
          </a:prstGeom>
          <a:solidFill>
            <a:srgbClr val="0A0A0B"/>
          </a:solidFill>
          <a:ln w="13970">
            <a:solidFill>
              <a:srgbClr val="BE9247"/>
            </a:solidFill>
            <a:prstDash val="solid"/>
          </a:ln>
        </p:spPr>
      </p:sp>
      <p:sp>
        <p:nvSpPr>
          <p:cNvPr id="9" name="Text 7"/>
          <p:cNvSpPr txBox="1"/>
          <p:nvPr/>
        </p:nvSpPr>
        <p:spPr>
          <a:xfrm>
            <a:off x="640080" y="3557016"/>
            <a:ext cx="384048" cy="384048"/>
          </a:xfrm>
          <a:prstGeom prst="rect">
            <a:avLst/>
          </a:prstGeom>
          <a:noFill/>
          <a:ln/>
        </p:spPr>
        <p:txBody>
          <a:bodyPr wrap="square" lIns="0" tIns="0" rIns="0" bIns="0" rtlCol="0" anchor="ctr"/>
          <a:lstStyle/>
          <a:p>
            <a:pPr algn="ctr" indent="0" marL="0">
              <a:buNone/>
            </a:pPr>
            <a:r>
              <a:rPr lang="en-US" sz="1200" b="1" dirty="0">
                <a:solidFill>
                  <a:srgbClr val="BE9247"/>
                </a:solidFill>
                <a:latin typeface="Courier New" pitchFamily="34" charset="0"/>
                <a:ea typeface="Courier New" pitchFamily="34" charset="-122"/>
                <a:cs typeface="Courier New" pitchFamily="34" charset="-120"/>
              </a:rPr>
              <a:t>2</a:t>
            </a:r>
            <a:endParaRPr lang="en-US" sz="1200" dirty="0"/>
          </a:p>
        </p:txBody>
      </p:sp>
      <p:sp>
        <p:nvSpPr>
          <p:cNvPr id="10" name="Text 8"/>
          <p:cNvSpPr txBox="1"/>
          <p:nvPr/>
        </p:nvSpPr>
        <p:spPr>
          <a:xfrm>
            <a:off x="1261872" y="3502152"/>
            <a:ext cx="3017520" cy="384048"/>
          </a:xfrm>
          <a:prstGeom prst="rect">
            <a:avLst/>
          </a:prstGeom>
          <a:noFill/>
          <a:ln/>
        </p:spPr>
        <p:txBody>
          <a:bodyPr wrap="square" lIns="0" tIns="0" rIns="0" bIns="0" rtlCol="0" anchor="ctr"/>
          <a:lstStyle/>
          <a:p>
            <a:pPr indent="0" marL="0">
              <a:buNone/>
            </a:pPr>
            <a:r>
              <a:rPr lang="en-US" sz="1550" b="1" dirty="0">
                <a:solidFill>
                  <a:srgbClr val="EFEFED"/>
                </a:solidFill>
                <a:latin typeface="Arial" pitchFamily="34" charset="0"/>
                <a:ea typeface="Arial" pitchFamily="34" charset="-122"/>
                <a:cs typeface="Arial" pitchFamily="34" charset="-120"/>
              </a:rPr>
              <a:t>A reputation governor</a:t>
            </a:r>
            <a:endParaRPr lang="en-US" sz="1550" dirty="0"/>
          </a:p>
        </p:txBody>
      </p:sp>
      <p:sp>
        <p:nvSpPr>
          <p:cNvPr id="11" name="Text 9"/>
          <p:cNvSpPr txBox="1"/>
          <p:nvPr/>
        </p:nvSpPr>
        <p:spPr>
          <a:xfrm>
            <a:off x="4434840" y="3474720"/>
            <a:ext cx="7040880" cy="914400"/>
          </a:xfrm>
          <a:prstGeom prst="rect">
            <a:avLst/>
          </a:prstGeom>
          <a:noFill/>
          <a:ln/>
        </p:spPr>
        <p:txBody>
          <a:bodyPr wrap="square" lIns="0" tIns="0" rIns="0" bIns="0" rtlCol="0" anchor="ctr"/>
          <a:lstStyle/>
          <a:p>
            <a:pPr indent="0" marL="0">
              <a:lnSpc>
                <a:spcPts val="1700"/>
              </a:lnSpc>
              <a:buNone/>
            </a:pPr>
            <a:r>
              <a:rPr lang="en-US" sz="1250" dirty="0">
                <a:solidFill>
                  <a:srgbClr val="9C9C97"/>
                </a:solidFill>
                <a:latin typeface="Calibri" pitchFamily="34" charset="0"/>
                <a:ea typeface="Calibri" pitchFamily="34" charset="-122"/>
                <a:cs typeface="Calibri" pitchFamily="34" charset="-120"/>
              </a:rPr>
              <a:t>The daily limit is the lower of the published ramp and what your own record has earned. It holds when bounces or complaints rise, and stops at the line Gmail filters on.</a:t>
            </a:r>
            <a:endParaRPr lang="en-US" sz="1250" dirty="0"/>
          </a:p>
        </p:txBody>
      </p:sp>
      <p:sp>
        <p:nvSpPr>
          <p:cNvPr id="12" name="Shape 10"/>
          <p:cNvSpPr/>
          <p:nvPr/>
        </p:nvSpPr>
        <p:spPr>
          <a:xfrm>
            <a:off x="640080" y="4727448"/>
            <a:ext cx="384048" cy="384048"/>
          </a:xfrm>
          <a:prstGeom prst="ellipse">
            <a:avLst/>
          </a:prstGeom>
          <a:solidFill>
            <a:srgbClr val="0A0A0B"/>
          </a:solidFill>
          <a:ln w="13970">
            <a:solidFill>
              <a:srgbClr val="BE9247"/>
            </a:solidFill>
            <a:prstDash val="solid"/>
          </a:ln>
        </p:spPr>
      </p:sp>
      <p:sp>
        <p:nvSpPr>
          <p:cNvPr id="13" name="Text 11"/>
          <p:cNvSpPr txBox="1"/>
          <p:nvPr/>
        </p:nvSpPr>
        <p:spPr>
          <a:xfrm>
            <a:off x="640080" y="4727448"/>
            <a:ext cx="384048" cy="384048"/>
          </a:xfrm>
          <a:prstGeom prst="rect">
            <a:avLst/>
          </a:prstGeom>
          <a:noFill/>
          <a:ln/>
        </p:spPr>
        <p:txBody>
          <a:bodyPr wrap="square" lIns="0" tIns="0" rIns="0" bIns="0" rtlCol="0" anchor="ctr"/>
          <a:lstStyle/>
          <a:p>
            <a:pPr algn="ctr" indent="0" marL="0">
              <a:buNone/>
            </a:pPr>
            <a:r>
              <a:rPr lang="en-US" sz="1200" b="1" dirty="0">
                <a:solidFill>
                  <a:srgbClr val="BE9247"/>
                </a:solidFill>
                <a:latin typeface="Courier New" pitchFamily="34" charset="0"/>
                <a:ea typeface="Courier New" pitchFamily="34" charset="-122"/>
                <a:cs typeface="Courier New" pitchFamily="34" charset="-120"/>
              </a:rPr>
              <a:t>3</a:t>
            </a:r>
            <a:endParaRPr lang="en-US" sz="1200" dirty="0"/>
          </a:p>
        </p:txBody>
      </p:sp>
      <p:sp>
        <p:nvSpPr>
          <p:cNvPr id="14" name="Text 12"/>
          <p:cNvSpPr txBox="1"/>
          <p:nvPr/>
        </p:nvSpPr>
        <p:spPr>
          <a:xfrm>
            <a:off x="1261872" y="4672584"/>
            <a:ext cx="3017520" cy="384048"/>
          </a:xfrm>
          <a:prstGeom prst="rect">
            <a:avLst/>
          </a:prstGeom>
          <a:noFill/>
          <a:ln/>
        </p:spPr>
        <p:txBody>
          <a:bodyPr wrap="square" lIns="0" tIns="0" rIns="0" bIns="0" rtlCol="0" anchor="ctr"/>
          <a:lstStyle/>
          <a:p>
            <a:pPr indent="0" marL="0">
              <a:buNone/>
            </a:pPr>
            <a:r>
              <a:rPr lang="en-US" sz="1550" b="1" dirty="0">
                <a:solidFill>
                  <a:srgbClr val="EFEFED"/>
                </a:solidFill>
                <a:latin typeface="Arial" pitchFamily="34" charset="0"/>
                <a:ea typeface="Arial" pitchFamily="34" charset="-122"/>
                <a:cs typeface="Arial" pitchFamily="34" charset="-120"/>
              </a:rPr>
              <a:t>Consent in the send path</a:t>
            </a:r>
            <a:endParaRPr lang="en-US" sz="1550" dirty="0"/>
          </a:p>
        </p:txBody>
      </p:sp>
      <p:sp>
        <p:nvSpPr>
          <p:cNvPr id="15" name="Text 13"/>
          <p:cNvSpPr txBox="1"/>
          <p:nvPr/>
        </p:nvSpPr>
        <p:spPr>
          <a:xfrm>
            <a:off x="4434840" y="4645152"/>
            <a:ext cx="7040880" cy="914400"/>
          </a:xfrm>
          <a:prstGeom prst="rect">
            <a:avLst/>
          </a:prstGeom>
          <a:noFill/>
          <a:ln/>
        </p:spPr>
        <p:txBody>
          <a:bodyPr wrap="square" lIns="0" tIns="0" rIns="0" bIns="0" rtlCol="0" anchor="ctr"/>
          <a:lstStyle/>
          <a:p>
            <a:pPr indent="0" marL="0">
              <a:lnSpc>
                <a:spcPts val="1700"/>
              </a:lnSpc>
              <a:buNone/>
            </a:pPr>
            <a:r>
              <a:rPr lang="en-US" sz="1250" dirty="0">
                <a:solidFill>
                  <a:srgbClr val="9C9C97"/>
                </a:solidFill>
                <a:latin typeface="Calibri" pitchFamily="34" charset="0"/>
                <a:ea typeface="Calibri" pitchFamily="34" charset="-122"/>
                <a:cs typeface="Calibri" pitchFamily="34" charset="-120"/>
              </a:rPr>
              <a:t>A send without granted consent is refused. Hard bounces and complaints go on a suppression ledger and are never retried.</a:t>
            </a:r>
            <a:endParaRPr lang="en-US" sz="1250" dirty="0"/>
          </a:p>
        </p:txBody>
      </p:sp>
      <p:sp>
        <p:nvSpPr>
          <p:cNvPr id="16" name="Text 14"/>
          <p:cNvSpPr txBox="1"/>
          <p:nvPr/>
        </p:nvSpPr>
        <p:spPr>
          <a:xfrm>
            <a:off x="640080" y="6291072"/>
            <a:ext cx="10881360" cy="274320"/>
          </a:xfrm>
          <a:prstGeom prst="rect">
            <a:avLst/>
          </a:prstGeom>
          <a:noFill/>
          <a:ln/>
        </p:spPr>
        <p:txBody>
          <a:bodyPr wrap="square" lIns="0" tIns="0" rIns="0" bIns="0" rtlCol="0" anchor="ctr"/>
          <a:lstStyle/>
          <a:p>
            <a:pPr indent="0" marL="0">
              <a:buNone/>
            </a:pPr>
            <a:r>
              <a:rPr lang="en-US" sz="1000" dirty="0">
                <a:solidFill>
                  <a:srgbClr val="7A7A75"/>
                </a:solidFill>
                <a:latin typeface="Calibri" pitchFamily="34" charset="0"/>
                <a:ea typeface="Calibri" pitchFamily="34" charset="-122"/>
                <a:cs typeface="Calibri" pitchFamily="34" charset="-120"/>
              </a:rPr>
              <a:t>Target bounce rate under 0.5% — six times inside the Gmail and Yahoo bulk-sender threshold.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B"/>
        </a:solidFill>
      </p:bgPr>
    </p:bg>
    <p:spTree>
      <p:nvGrpSpPr>
        <p:cNvPr id="1" name=""/>
        <p:cNvGrpSpPr/>
        <p:nvPr/>
      </p:nvGrpSpPr>
      <p:grpSpPr>
        <a:xfrm>
          <a:off x="0" y="0"/>
          <a:ext cx="0" cy="0"/>
          <a:chOff x="0" y="0"/>
          <a:chExt cx="0" cy="0"/>
        </a:xfrm>
      </p:grpSpPr>
      <p:sp>
        <p:nvSpPr>
          <p:cNvPr id="2" name="Text 0"/>
          <p:cNvSpPr txBox="1"/>
          <p:nvPr/>
        </p:nvSpPr>
        <p:spPr>
          <a:xfrm>
            <a:off x="640080" y="475488"/>
            <a:ext cx="7315200" cy="256032"/>
          </a:xfrm>
          <a:prstGeom prst="rect">
            <a:avLst/>
          </a:prstGeom>
          <a:noFill/>
          <a:ln/>
        </p:spPr>
        <p:txBody>
          <a:bodyPr wrap="square" lIns="0" tIns="0" rIns="0" bIns="0" rtlCol="0" anchor="ctr"/>
          <a:lstStyle/>
          <a:p>
            <a:pPr indent="0" marL="0">
              <a:buNone/>
            </a:pPr>
            <a:r>
              <a:rPr lang="en-US" sz="1050" b="1" spc="220" kern="0" dirty="0">
                <a:solidFill>
                  <a:srgbClr val="BE9247"/>
                </a:solidFill>
                <a:latin typeface="Courier New" pitchFamily="34" charset="0"/>
                <a:ea typeface="Courier New" pitchFamily="34" charset="-122"/>
                <a:cs typeface="Courier New" pitchFamily="34" charset="-120"/>
              </a:rPr>
              <a:t>ONE BILL</a:t>
            </a:r>
            <a:endParaRPr lang="en-US" sz="1050" dirty="0"/>
          </a:p>
        </p:txBody>
      </p:sp>
      <p:sp>
        <p:nvSpPr>
          <p:cNvPr id="3" name="Text 1"/>
          <p:cNvSpPr txBox="1"/>
          <p:nvPr/>
        </p:nvSpPr>
        <p:spPr>
          <a:xfrm>
            <a:off x="640080" y="841248"/>
            <a:ext cx="10881360" cy="1417320"/>
          </a:xfrm>
          <a:prstGeom prst="rect">
            <a:avLst/>
          </a:prstGeom>
          <a:noFill/>
          <a:ln/>
        </p:spPr>
        <p:txBody>
          <a:bodyPr wrap="square" lIns="0" tIns="0" rIns="0" bIns="0" rtlCol="0" anchor="ctr"/>
          <a:lstStyle/>
          <a:p>
            <a:pPr indent="0" marL="0">
              <a:lnSpc>
                <a:spcPts val="4500"/>
              </a:lnSpc>
              <a:buNone/>
            </a:pPr>
            <a:r>
              <a:rPr lang="en-US" sz="4000" b="1" dirty="0">
                <a:solidFill>
                  <a:srgbClr val="EFEFED"/>
                </a:solidFill>
                <a:latin typeface="Arial" pitchFamily="34" charset="0"/>
                <a:ea typeface="Arial" pitchFamily="34" charset="-122"/>
                <a:cs typeface="Arial" pitchFamily="34" charset="-120"/>
              </a:rPr>
              <a:t>The tools you are already</a:t>
            </a:r>
            <a:endParaRPr lang="en-US" sz="4000" dirty="0"/>
          </a:p>
          <a:p>
            <a:pPr indent="0" marL="0">
              <a:lnSpc>
                <a:spcPts val="4500"/>
              </a:lnSpc>
              <a:buNone/>
            </a:pPr>
            <a:r>
              <a:rPr lang="en-US" sz="4000" b="1" dirty="0">
                <a:solidFill>
                  <a:srgbClr val="EFEFED"/>
                </a:solidFill>
                <a:latin typeface="Arial" pitchFamily="34" charset="0"/>
                <a:ea typeface="Arial" pitchFamily="34" charset="-122"/>
                <a:cs typeface="Arial" pitchFamily="34" charset="-120"/>
              </a:rPr>
              <a:t>paying for, included.</a:t>
            </a:r>
            <a:endParaRPr lang="en-US" sz="4000" dirty="0"/>
          </a:p>
        </p:txBody>
      </p:sp>
      <p:sp>
        <p:nvSpPr>
          <p:cNvPr id="4" name="Shape 2"/>
          <p:cNvSpPr/>
          <p:nvPr/>
        </p:nvSpPr>
        <p:spPr>
          <a:xfrm>
            <a:off x="640080" y="2331720"/>
            <a:ext cx="3438144" cy="676656"/>
          </a:xfrm>
          <a:prstGeom prst="roundRect">
            <a:avLst>
              <a:gd name="adj" fmla="val 10811"/>
            </a:avLst>
          </a:prstGeom>
          <a:solidFill>
            <a:srgbClr val="151516"/>
          </a:solidFill>
          <a:ln w="9525">
            <a:solidFill>
              <a:srgbClr val="2A2A2C"/>
            </a:solidFill>
            <a:prstDash val="solid"/>
          </a:ln>
        </p:spPr>
      </p:sp>
      <p:sp>
        <p:nvSpPr>
          <p:cNvPr id="5" name="Text 3"/>
          <p:cNvSpPr txBox="1"/>
          <p:nvPr/>
        </p:nvSpPr>
        <p:spPr>
          <a:xfrm>
            <a:off x="914400" y="2331720"/>
            <a:ext cx="2926080" cy="676656"/>
          </a:xfrm>
          <a:prstGeom prst="rect">
            <a:avLst/>
          </a:prstGeom>
          <a:noFill/>
          <a:ln/>
        </p:spPr>
        <p:txBody>
          <a:bodyPr wrap="square" lIns="0" tIns="0" rIns="0" bIns="0" rtlCol="0" anchor="ctr"/>
          <a:lstStyle/>
          <a:p>
            <a:pPr indent="0" marL="0">
              <a:buNone/>
            </a:pPr>
            <a:r>
              <a:rPr lang="en-US" sz="1250" dirty="0">
                <a:solidFill>
                  <a:srgbClr val="EFEFED"/>
                </a:solidFill>
                <a:latin typeface="Calibri" pitchFamily="34" charset="0"/>
                <a:ea typeface="Calibri" pitchFamily="34" charset="-122"/>
                <a:cs typeface="Calibri" pitchFamily="34" charset="-120"/>
              </a:rPr>
              <a:t>Website audit + SEO workbench</a:t>
            </a:r>
            <a:endParaRPr lang="en-US" sz="1250" dirty="0"/>
          </a:p>
        </p:txBody>
      </p:sp>
      <p:sp>
        <p:nvSpPr>
          <p:cNvPr id="6" name="Shape 4"/>
          <p:cNvSpPr/>
          <p:nvPr/>
        </p:nvSpPr>
        <p:spPr>
          <a:xfrm>
            <a:off x="4352544" y="2331720"/>
            <a:ext cx="3438144" cy="676656"/>
          </a:xfrm>
          <a:prstGeom prst="roundRect">
            <a:avLst>
              <a:gd name="adj" fmla="val 10811"/>
            </a:avLst>
          </a:prstGeom>
          <a:solidFill>
            <a:srgbClr val="151516"/>
          </a:solidFill>
          <a:ln w="9525">
            <a:solidFill>
              <a:srgbClr val="2A2A2C"/>
            </a:solidFill>
            <a:prstDash val="solid"/>
          </a:ln>
        </p:spPr>
      </p:sp>
      <p:sp>
        <p:nvSpPr>
          <p:cNvPr id="7" name="Text 5"/>
          <p:cNvSpPr txBox="1"/>
          <p:nvPr/>
        </p:nvSpPr>
        <p:spPr>
          <a:xfrm>
            <a:off x="4626864" y="2331720"/>
            <a:ext cx="2926080" cy="676656"/>
          </a:xfrm>
          <a:prstGeom prst="rect">
            <a:avLst/>
          </a:prstGeom>
          <a:noFill/>
          <a:ln/>
        </p:spPr>
        <p:txBody>
          <a:bodyPr wrap="square" lIns="0" tIns="0" rIns="0" bIns="0" rtlCol="0" anchor="ctr"/>
          <a:lstStyle/>
          <a:p>
            <a:pPr indent="0" marL="0">
              <a:buNone/>
            </a:pPr>
            <a:r>
              <a:rPr lang="en-US" sz="1250" dirty="0">
                <a:solidFill>
                  <a:srgbClr val="EFEFED"/>
                </a:solidFill>
                <a:latin typeface="Calibri" pitchFamily="34" charset="0"/>
                <a:ea typeface="Calibri" pitchFamily="34" charset="-122"/>
                <a:cs typeface="Calibri" pitchFamily="34" charset="-120"/>
              </a:rPr>
              <a:t>Email sending + automation</a:t>
            </a:r>
            <a:endParaRPr lang="en-US" sz="1250" dirty="0"/>
          </a:p>
        </p:txBody>
      </p:sp>
      <p:sp>
        <p:nvSpPr>
          <p:cNvPr id="8" name="Shape 6"/>
          <p:cNvSpPr/>
          <p:nvPr/>
        </p:nvSpPr>
        <p:spPr>
          <a:xfrm>
            <a:off x="8065008" y="2331720"/>
            <a:ext cx="3438144" cy="676656"/>
          </a:xfrm>
          <a:prstGeom prst="roundRect">
            <a:avLst>
              <a:gd name="adj" fmla="val 10811"/>
            </a:avLst>
          </a:prstGeom>
          <a:solidFill>
            <a:srgbClr val="151516"/>
          </a:solidFill>
          <a:ln w="9525">
            <a:solidFill>
              <a:srgbClr val="2A2A2C"/>
            </a:solidFill>
            <a:prstDash val="solid"/>
          </a:ln>
        </p:spPr>
      </p:sp>
      <p:sp>
        <p:nvSpPr>
          <p:cNvPr id="9" name="Text 7"/>
          <p:cNvSpPr txBox="1"/>
          <p:nvPr/>
        </p:nvSpPr>
        <p:spPr>
          <a:xfrm>
            <a:off x="8339328" y="2331720"/>
            <a:ext cx="2926080" cy="676656"/>
          </a:xfrm>
          <a:prstGeom prst="rect">
            <a:avLst/>
          </a:prstGeom>
          <a:noFill/>
          <a:ln/>
        </p:spPr>
        <p:txBody>
          <a:bodyPr wrap="square" lIns="0" tIns="0" rIns="0" bIns="0" rtlCol="0" anchor="ctr"/>
          <a:lstStyle/>
          <a:p>
            <a:pPr indent="0" marL="0">
              <a:buNone/>
            </a:pPr>
            <a:r>
              <a:rPr lang="en-US" sz="1250" dirty="0">
                <a:solidFill>
                  <a:srgbClr val="EFEFED"/>
                </a:solidFill>
                <a:latin typeface="Calibri" pitchFamily="34" charset="0"/>
                <a:ea typeface="Calibri" pitchFamily="34" charset="-122"/>
                <a:cs typeface="Calibri" pitchFamily="34" charset="-120"/>
              </a:rPr>
              <a:t>Social publishing + scheduling</a:t>
            </a:r>
            <a:endParaRPr lang="en-US" sz="1250" dirty="0"/>
          </a:p>
        </p:txBody>
      </p:sp>
      <p:sp>
        <p:nvSpPr>
          <p:cNvPr id="10" name="Shape 8"/>
          <p:cNvSpPr/>
          <p:nvPr/>
        </p:nvSpPr>
        <p:spPr>
          <a:xfrm>
            <a:off x="640080" y="3172968"/>
            <a:ext cx="3438144" cy="676656"/>
          </a:xfrm>
          <a:prstGeom prst="roundRect">
            <a:avLst>
              <a:gd name="adj" fmla="val 10811"/>
            </a:avLst>
          </a:prstGeom>
          <a:solidFill>
            <a:srgbClr val="151516"/>
          </a:solidFill>
          <a:ln w="9525">
            <a:solidFill>
              <a:srgbClr val="2A2A2C"/>
            </a:solidFill>
            <a:prstDash val="solid"/>
          </a:ln>
        </p:spPr>
      </p:sp>
      <p:sp>
        <p:nvSpPr>
          <p:cNvPr id="11" name="Text 9"/>
          <p:cNvSpPr txBox="1"/>
          <p:nvPr/>
        </p:nvSpPr>
        <p:spPr>
          <a:xfrm>
            <a:off x="914400" y="3172968"/>
            <a:ext cx="2926080" cy="676656"/>
          </a:xfrm>
          <a:prstGeom prst="rect">
            <a:avLst/>
          </a:prstGeom>
          <a:noFill/>
          <a:ln/>
        </p:spPr>
        <p:txBody>
          <a:bodyPr wrap="square" lIns="0" tIns="0" rIns="0" bIns="0" rtlCol="0" anchor="ctr"/>
          <a:lstStyle/>
          <a:p>
            <a:pPr indent="0" marL="0">
              <a:buNone/>
            </a:pPr>
            <a:r>
              <a:rPr lang="en-US" sz="1250" dirty="0">
                <a:solidFill>
                  <a:srgbClr val="EFEFED"/>
                </a:solidFill>
                <a:latin typeface="Calibri" pitchFamily="34" charset="0"/>
                <a:ea typeface="Calibri" pitchFamily="34" charset="-122"/>
                <a:cs typeface="Calibri" pitchFamily="34" charset="-120"/>
              </a:rPr>
              <a:t>Ad creative + resizing</a:t>
            </a:r>
            <a:endParaRPr lang="en-US" sz="1250" dirty="0"/>
          </a:p>
        </p:txBody>
      </p:sp>
      <p:sp>
        <p:nvSpPr>
          <p:cNvPr id="12" name="Shape 10"/>
          <p:cNvSpPr/>
          <p:nvPr/>
        </p:nvSpPr>
        <p:spPr>
          <a:xfrm>
            <a:off x="4352544" y="3172968"/>
            <a:ext cx="3438144" cy="676656"/>
          </a:xfrm>
          <a:prstGeom prst="roundRect">
            <a:avLst>
              <a:gd name="adj" fmla="val 10811"/>
            </a:avLst>
          </a:prstGeom>
          <a:solidFill>
            <a:srgbClr val="151516"/>
          </a:solidFill>
          <a:ln w="9525">
            <a:solidFill>
              <a:srgbClr val="2A2A2C"/>
            </a:solidFill>
            <a:prstDash val="solid"/>
          </a:ln>
        </p:spPr>
      </p:sp>
      <p:sp>
        <p:nvSpPr>
          <p:cNvPr id="13" name="Text 11"/>
          <p:cNvSpPr txBox="1"/>
          <p:nvPr/>
        </p:nvSpPr>
        <p:spPr>
          <a:xfrm>
            <a:off x="4626864" y="3172968"/>
            <a:ext cx="2926080" cy="676656"/>
          </a:xfrm>
          <a:prstGeom prst="rect">
            <a:avLst/>
          </a:prstGeom>
          <a:noFill/>
          <a:ln/>
        </p:spPr>
        <p:txBody>
          <a:bodyPr wrap="square" lIns="0" tIns="0" rIns="0" bIns="0" rtlCol="0" anchor="ctr"/>
          <a:lstStyle/>
          <a:p>
            <a:pPr indent="0" marL="0">
              <a:buNone/>
            </a:pPr>
            <a:r>
              <a:rPr lang="en-US" sz="1250" dirty="0">
                <a:solidFill>
                  <a:srgbClr val="EFEFED"/>
                </a:solidFill>
                <a:latin typeface="Calibri" pitchFamily="34" charset="0"/>
                <a:ea typeface="Calibri" pitchFamily="34" charset="-122"/>
                <a:cs typeface="Calibri" pitchFamily="34" charset="-120"/>
              </a:rPr>
              <a:t>Landing pages</a:t>
            </a:r>
            <a:endParaRPr lang="en-US" sz="1250" dirty="0"/>
          </a:p>
        </p:txBody>
      </p:sp>
      <p:sp>
        <p:nvSpPr>
          <p:cNvPr id="14" name="Shape 12"/>
          <p:cNvSpPr/>
          <p:nvPr/>
        </p:nvSpPr>
        <p:spPr>
          <a:xfrm>
            <a:off x="8065008" y="3172968"/>
            <a:ext cx="3438144" cy="676656"/>
          </a:xfrm>
          <a:prstGeom prst="roundRect">
            <a:avLst>
              <a:gd name="adj" fmla="val 10811"/>
            </a:avLst>
          </a:prstGeom>
          <a:solidFill>
            <a:srgbClr val="151516"/>
          </a:solidFill>
          <a:ln w="9525">
            <a:solidFill>
              <a:srgbClr val="2A2A2C"/>
            </a:solidFill>
            <a:prstDash val="solid"/>
          </a:ln>
        </p:spPr>
      </p:sp>
      <p:sp>
        <p:nvSpPr>
          <p:cNvPr id="15" name="Text 13"/>
          <p:cNvSpPr txBox="1"/>
          <p:nvPr/>
        </p:nvSpPr>
        <p:spPr>
          <a:xfrm>
            <a:off x="8339328" y="3172968"/>
            <a:ext cx="2926080" cy="676656"/>
          </a:xfrm>
          <a:prstGeom prst="rect">
            <a:avLst/>
          </a:prstGeom>
          <a:noFill/>
          <a:ln/>
        </p:spPr>
        <p:txBody>
          <a:bodyPr wrap="square" lIns="0" tIns="0" rIns="0" bIns="0" rtlCol="0" anchor="ctr"/>
          <a:lstStyle/>
          <a:p>
            <a:pPr indent="0" marL="0">
              <a:buNone/>
            </a:pPr>
            <a:r>
              <a:rPr lang="en-US" sz="1250" dirty="0">
                <a:solidFill>
                  <a:srgbClr val="EFEFED"/>
                </a:solidFill>
                <a:latin typeface="Calibri" pitchFamily="34" charset="0"/>
                <a:ea typeface="Calibri" pitchFamily="34" charset="-122"/>
                <a:cs typeface="Calibri" pitchFamily="34" charset="-120"/>
              </a:rPr>
              <a:t>Competitor intelligence</a:t>
            </a:r>
            <a:endParaRPr lang="en-US" sz="1250" dirty="0"/>
          </a:p>
        </p:txBody>
      </p:sp>
      <p:sp>
        <p:nvSpPr>
          <p:cNvPr id="16" name="Shape 14"/>
          <p:cNvSpPr/>
          <p:nvPr/>
        </p:nvSpPr>
        <p:spPr>
          <a:xfrm>
            <a:off x="640080" y="4014216"/>
            <a:ext cx="3438144" cy="676656"/>
          </a:xfrm>
          <a:prstGeom prst="roundRect">
            <a:avLst>
              <a:gd name="adj" fmla="val 10811"/>
            </a:avLst>
          </a:prstGeom>
          <a:solidFill>
            <a:srgbClr val="151516"/>
          </a:solidFill>
          <a:ln w="9525">
            <a:solidFill>
              <a:srgbClr val="2A2A2C"/>
            </a:solidFill>
            <a:prstDash val="solid"/>
          </a:ln>
        </p:spPr>
      </p:sp>
      <p:sp>
        <p:nvSpPr>
          <p:cNvPr id="17" name="Text 15"/>
          <p:cNvSpPr txBox="1"/>
          <p:nvPr/>
        </p:nvSpPr>
        <p:spPr>
          <a:xfrm>
            <a:off x="914400" y="4014216"/>
            <a:ext cx="2926080" cy="676656"/>
          </a:xfrm>
          <a:prstGeom prst="rect">
            <a:avLst/>
          </a:prstGeom>
          <a:noFill/>
          <a:ln/>
        </p:spPr>
        <p:txBody>
          <a:bodyPr wrap="square" lIns="0" tIns="0" rIns="0" bIns="0" rtlCol="0" anchor="ctr"/>
          <a:lstStyle/>
          <a:p>
            <a:pPr indent="0" marL="0">
              <a:buNone/>
            </a:pPr>
            <a:r>
              <a:rPr lang="en-US" sz="1250" dirty="0">
                <a:solidFill>
                  <a:srgbClr val="EFEFED"/>
                </a:solidFill>
                <a:latin typeface="Calibri" pitchFamily="34" charset="0"/>
                <a:ea typeface="Calibri" pitchFamily="34" charset="-122"/>
                <a:cs typeface="Calibri" pitchFamily="34" charset="-120"/>
              </a:rPr>
              <a:t>Review requests</a:t>
            </a:r>
            <a:endParaRPr lang="en-US" sz="1250" dirty="0"/>
          </a:p>
        </p:txBody>
      </p:sp>
      <p:sp>
        <p:nvSpPr>
          <p:cNvPr id="18" name="Shape 16"/>
          <p:cNvSpPr/>
          <p:nvPr/>
        </p:nvSpPr>
        <p:spPr>
          <a:xfrm>
            <a:off x="4352544" y="4014216"/>
            <a:ext cx="3438144" cy="676656"/>
          </a:xfrm>
          <a:prstGeom prst="roundRect">
            <a:avLst>
              <a:gd name="adj" fmla="val 10811"/>
            </a:avLst>
          </a:prstGeom>
          <a:solidFill>
            <a:srgbClr val="151516"/>
          </a:solidFill>
          <a:ln w="9525">
            <a:solidFill>
              <a:srgbClr val="2A2A2C"/>
            </a:solidFill>
            <a:prstDash val="solid"/>
          </a:ln>
        </p:spPr>
      </p:sp>
      <p:sp>
        <p:nvSpPr>
          <p:cNvPr id="19" name="Text 17"/>
          <p:cNvSpPr txBox="1"/>
          <p:nvPr/>
        </p:nvSpPr>
        <p:spPr>
          <a:xfrm>
            <a:off x="4626864" y="4014216"/>
            <a:ext cx="2926080" cy="676656"/>
          </a:xfrm>
          <a:prstGeom prst="rect">
            <a:avLst/>
          </a:prstGeom>
          <a:noFill/>
          <a:ln/>
        </p:spPr>
        <p:txBody>
          <a:bodyPr wrap="square" lIns="0" tIns="0" rIns="0" bIns="0" rtlCol="0" anchor="ctr"/>
          <a:lstStyle/>
          <a:p>
            <a:pPr indent="0" marL="0">
              <a:buNone/>
            </a:pPr>
            <a:r>
              <a:rPr lang="en-US" sz="1250" dirty="0">
                <a:solidFill>
                  <a:srgbClr val="EFEFED"/>
                </a:solidFill>
                <a:latin typeface="Calibri" pitchFamily="34" charset="0"/>
                <a:ea typeface="Calibri" pitchFamily="34" charset="-122"/>
                <a:cs typeface="Calibri" pitchFamily="34" charset="-120"/>
              </a:rPr>
              <a:t>Creator + affiliate programme</a:t>
            </a:r>
            <a:endParaRPr lang="en-US" sz="1250" dirty="0"/>
          </a:p>
        </p:txBody>
      </p:sp>
      <p:sp>
        <p:nvSpPr>
          <p:cNvPr id="20" name="Shape 18"/>
          <p:cNvSpPr/>
          <p:nvPr/>
        </p:nvSpPr>
        <p:spPr>
          <a:xfrm>
            <a:off x="8065008" y="4014216"/>
            <a:ext cx="3438144" cy="676656"/>
          </a:xfrm>
          <a:prstGeom prst="roundRect">
            <a:avLst>
              <a:gd name="adj" fmla="val 10811"/>
            </a:avLst>
          </a:prstGeom>
          <a:solidFill>
            <a:srgbClr val="151516"/>
          </a:solidFill>
          <a:ln w="9525">
            <a:solidFill>
              <a:srgbClr val="2A2A2C"/>
            </a:solidFill>
            <a:prstDash val="solid"/>
          </a:ln>
        </p:spPr>
      </p:sp>
      <p:sp>
        <p:nvSpPr>
          <p:cNvPr id="21" name="Text 19"/>
          <p:cNvSpPr txBox="1"/>
          <p:nvPr/>
        </p:nvSpPr>
        <p:spPr>
          <a:xfrm>
            <a:off x="8339328" y="4014216"/>
            <a:ext cx="2926080" cy="676656"/>
          </a:xfrm>
          <a:prstGeom prst="rect">
            <a:avLst/>
          </a:prstGeom>
          <a:noFill/>
          <a:ln/>
        </p:spPr>
        <p:txBody>
          <a:bodyPr wrap="square" lIns="0" tIns="0" rIns="0" bIns="0" rtlCol="0" anchor="ctr"/>
          <a:lstStyle/>
          <a:p>
            <a:pPr indent="0" marL="0">
              <a:buNone/>
            </a:pPr>
            <a:r>
              <a:rPr lang="en-US" sz="1250" dirty="0">
                <a:solidFill>
                  <a:srgbClr val="EFEFED"/>
                </a:solidFill>
                <a:latin typeface="Calibri" pitchFamily="34" charset="0"/>
                <a:ea typeface="Calibri" pitchFamily="34" charset="-122"/>
                <a:cs typeface="Calibri" pitchFamily="34" charset="-120"/>
              </a:rPr>
              <a:t>Video clipping + captions</a:t>
            </a:r>
            <a:endParaRPr lang="en-US" sz="1250" dirty="0"/>
          </a:p>
        </p:txBody>
      </p:sp>
      <p:sp>
        <p:nvSpPr>
          <p:cNvPr id="22" name="Text 20"/>
          <p:cNvSpPr txBox="1"/>
          <p:nvPr/>
        </p:nvSpPr>
        <p:spPr>
          <a:xfrm>
            <a:off x="640080" y="5074920"/>
            <a:ext cx="10881360" cy="640080"/>
          </a:xfrm>
          <a:prstGeom prst="rect">
            <a:avLst/>
          </a:prstGeom>
          <a:noFill/>
          <a:ln/>
        </p:spPr>
        <p:txBody>
          <a:bodyPr wrap="square" lIns="0" tIns="0" rIns="0" bIns="0" rtlCol="0" anchor="ctr"/>
          <a:lstStyle/>
          <a:p>
            <a:pPr indent="0" marL="0">
              <a:lnSpc>
                <a:spcPts val="1900"/>
              </a:lnSpc>
              <a:buNone/>
            </a:pPr>
            <a:r>
              <a:rPr lang="en-US" sz="1350" dirty="0">
                <a:solidFill>
                  <a:srgbClr val="9C9C97"/>
                </a:solidFill>
                <a:latin typeface="Calibri" pitchFamily="34" charset="0"/>
                <a:ea typeface="Calibri" pitchFamily="34" charset="-122"/>
                <a:cs typeface="Calibri" pitchFamily="34" charset="-120"/>
              </a:rPr>
              <a:t>Every engine behind one subscription, priced in credits. £1 = 100 ACUs, 20% of what you pay comes back as credits each month, and you top up only what you use.</a:t>
            </a:r>
            <a:endParaRPr lang="en-US" sz="1350" dirty="0"/>
          </a:p>
        </p:txBody>
      </p:sp>
      <p:sp>
        <p:nvSpPr>
          <p:cNvPr id="23" name="Text 21"/>
          <p:cNvSpPr txBox="1"/>
          <p:nvPr/>
        </p:nvSpPr>
        <p:spPr>
          <a:xfrm>
            <a:off x="640080" y="6291072"/>
            <a:ext cx="10881360" cy="274320"/>
          </a:xfrm>
          <a:prstGeom prst="rect">
            <a:avLst/>
          </a:prstGeom>
          <a:noFill/>
          <a:ln/>
        </p:spPr>
        <p:txBody>
          <a:bodyPr wrap="square" lIns="0" tIns="0" rIns="0" bIns="0" rtlCol="0" anchor="ctr"/>
          <a:lstStyle/>
          <a:p>
            <a:pPr indent="0" marL="0">
              <a:buNone/>
            </a:pPr>
            <a:r>
              <a:rPr lang="en-US" sz="1000" dirty="0">
                <a:solidFill>
                  <a:srgbClr val="7A7A75"/>
                </a:solidFill>
                <a:latin typeface="Calibri" pitchFamily="34" charset="0"/>
                <a:ea typeface="Calibri" pitchFamily="34" charset="-122"/>
                <a:cs typeface="Calibri" pitchFamily="34" charset="-120"/>
              </a:rPr>
              <a:t>Add up what those nine cost you separately. That is the comparison we want you to make.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B"/>
        </a:solidFill>
      </p:bgPr>
    </p:bg>
    <p:spTree>
      <p:nvGrpSpPr>
        <p:cNvPr id="1" name=""/>
        <p:cNvGrpSpPr/>
        <p:nvPr/>
      </p:nvGrpSpPr>
      <p:grpSpPr>
        <a:xfrm>
          <a:off x="0" y="0"/>
          <a:ext cx="0" cy="0"/>
          <a:chOff x="0" y="0"/>
          <a:chExt cx="0" cy="0"/>
        </a:xfrm>
      </p:grpSpPr>
      <p:sp>
        <p:nvSpPr>
          <p:cNvPr id="2" name="Text 0"/>
          <p:cNvSpPr txBox="1"/>
          <p:nvPr/>
        </p:nvSpPr>
        <p:spPr>
          <a:xfrm>
            <a:off x="640080" y="475488"/>
            <a:ext cx="7315200" cy="256032"/>
          </a:xfrm>
          <a:prstGeom prst="rect">
            <a:avLst/>
          </a:prstGeom>
          <a:noFill/>
          <a:ln/>
        </p:spPr>
        <p:txBody>
          <a:bodyPr wrap="square" lIns="0" tIns="0" rIns="0" bIns="0" rtlCol="0" anchor="ctr"/>
          <a:lstStyle/>
          <a:p>
            <a:pPr indent="0" marL="0">
              <a:buNone/>
            </a:pPr>
            <a:r>
              <a:rPr lang="en-US" sz="1050" b="1" spc="220" kern="0" dirty="0">
                <a:solidFill>
                  <a:srgbClr val="BE9247"/>
                </a:solidFill>
                <a:latin typeface="Courier New" pitchFamily="34" charset="0"/>
                <a:ea typeface="Courier New" pitchFamily="34" charset="-122"/>
                <a:cs typeface="Courier New" pitchFamily="34" charset="-120"/>
              </a:rPr>
              <a:t>WHAT IT COSTS</a:t>
            </a:r>
            <a:endParaRPr lang="en-US" sz="1050" dirty="0"/>
          </a:p>
        </p:txBody>
      </p:sp>
      <p:sp>
        <p:nvSpPr>
          <p:cNvPr id="3" name="Text 1"/>
          <p:cNvSpPr txBox="1"/>
          <p:nvPr/>
        </p:nvSpPr>
        <p:spPr>
          <a:xfrm>
            <a:off x="640080" y="841248"/>
            <a:ext cx="10881360" cy="1417320"/>
          </a:xfrm>
          <a:prstGeom prst="rect">
            <a:avLst/>
          </a:prstGeom>
          <a:noFill/>
          <a:ln/>
        </p:spPr>
        <p:txBody>
          <a:bodyPr wrap="square" lIns="0" tIns="0" rIns="0" bIns="0" rtlCol="0" anchor="ctr"/>
          <a:lstStyle/>
          <a:p>
            <a:pPr indent="0" marL="0">
              <a:lnSpc>
                <a:spcPts val="4500"/>
              </a:lnSpc>
              <a:buNone/>
            </a:pPr>
            <a:r>
              <a:rPr lang="en-US" sz="4000" b="1" dirty="0">
                <a:solidFill>
                  <a:srgbClr val="EFEFED"/>
                </a:solidFill>
                <a:latin typeface="Arial" pitchFamily="34" charset="0"/>
                <a:ea typeface="Arial" pitchFamily="34" charset="-122"/>
                <a:cs typeface="Arial" pitchFamily="34" charset="-120"/>
              </a:rPr>
              <a:t>Start free. Pay when it works.</a:t>
            </a:r>
            <a:endParaRPr lang="en-US" sz="4000" dirty="0"/>
          </a:p>
        </p:txBody>
      </p:sp>
      <p:sp>
        <p:nvSpPr>
          <p:cNvPr id="4" name="Shape 2"/>
          <p:cNvSpPr/>
          <p:nvPr/>
        </p:nvSpPr>
        <p:spPr>
          <a:xfrm>
            <a:off x="640080" y="2286000"/>
            <a:ext cx="2029968" cy="3017520"/>
          </a:xfrm>
          <a:prstGeom prst="roundRect">
            <a:avLst>
              <a:gd name="adj" fmla="val 3604"/>
            </a:avLst>
          </a:prstGeom>
          <a:solidFill>
            <a:srgbClr val="151516"/>
          </a:solidFill>
          <a:ln w="9525">
            <a:solidFill>
              <a:srgbClr val="2A2A2C"/>
            </a:solidFill>
            <a:prstDash val="solid"/>
          </a:ln>
        </p:spPr>
      </p:sp>
      <p:sp>
        <p:nvSpPr>
          <p:cNvPr id="5" name="Text 3"/>
          <p:cNvSpPr txBox="1"/>
          <p:nvPr/>
        </p:nvSpPr>
        <p:spPr>
          <a:xfrm>
            <a:off x="859536" y="2523744"/>
            <a:ext cx="1645920" cy="274320"/>
          </a:xfrm>
          <a:prstGeom prst="rect">
            <a:avLst/>
          </a:prstGeom>
          <a:noFill/>
          <a:ln/>
        </p:spPr>
        <p:txBody>
          <a:bodyPr wrap="square" lIns="0" tIns="0" rIns="0" bIns="0" rtlCol="0" anchor="ctr"/>
          <a:lstStyle/>
          <a:p>
            <a:pPr indent="0" marL="0">
              <a:buNone/>
            </a:pPr>
            <a:r>
              <a:rPr lang="en-US" sz="1000" b="1" spc="160" kern="0" dirty="0">
                <a:solidFill>
                  <a:srgbClr val="7A7A75"/>
                </a:solidFill>
                <a:latin typeface="Courier New" pitchFamily="34" charset="0"/>
                <a:ea typeface="Courier New" pitchFamily="34" charset="-122"/>
                <a:cs typeface="Courier New" pitchFamily="34" charset="-120"/>
              </a:rPr>
              <a:t>FREE</a:t>
            </a:r>
            <a:endParaRPr lang="en-US" sz="1000" dirty="0"/>
          </a:p>
        </p:txBody>
      </p:sp>
      <p:sp>
        <p:nvSpPr>
          <p:cNvPr id="6" name="Text 4"/>
          <p:cNvSpPr txBox="1"/>
          <p:nvPr/>
        </p:nvSpPr>
        <p:spPr>
          <a:xfrm>
            <a:off x="859536" y="2852928"/>
            <a:ext cx="1691640" cy="658368"/>
          </a:xfrm>
          <a:prstGeom prst="rect">
            <a:avLst/>
          </a:prstGeom>
          <a:noFill/>
          <a:ln/>
        </p:spPr>
        <p:txBody>
          <a:bodyPr wrap="square" lIns="0" tIns="0" rIns="0" bIns="0" rtlCol="0" anchor="ctr"/>
          <a:lstStyle/>
          <a:p>
            <a:pPr indent="0" marL="0">
              <a:buNone/>
            </a:pPr>
            <a:r>
              <a:rPr lang="en-US" sz="3400" b="1" dirty="0">
                <a:solidFill>
                  <a:srgbClr val="EFEFED"/>
                </a:solidFill>
                <a:latin typeface="Arial" pitchFamily="34" charset="0"/>
                <a:ea typeface="Arial" pitchFamily="34" charset="-122"/>
                <a:cs typeface="Arial" pitchFamily="34" charset="-120"/>
              </a:rPr>
              <a:t>£0</a:t>
            </a:r>
            <a:endParaRPr lang="en-US" sz="3400" dirty="0"/>
          </a:p>
        </p:txBody>
      </p:sp>
      <p:sp>
        <p:nvSpPr>
          <p:cNvPr id="7" name="Text 5"/>
          <p:cNvSpPr txBox="1"/>
          <p:nvPr/>
        </p:nvSpPr>
        <p:spPr>
          <a:xfrm>
            <a:off x="859536" y="3511296"/>
            <a:ext cx="1645920" cy="237744"/>
          </a:xfrm>
          <a:prstGeom prst="rect">
            <a:avLst/>
          </a:prstGeom>
          <a:noFill/>
          <a:ln/>
        </p:spPr>
        <p:txBody>
          <a:bodyPr wrap="square" lIns="0" tIns="0" rIns="0" bIns="0" rtlCol="0" anchor="ctr"/>
          <a:lstStyle/>
          <a:p>
            <a:pPr indent="0" marL="0">
              <a:buNone/>
            </a:pPr>
            <a:r>
              <a:rPr lang="en-US" sz="1050" dirty="0">
                <a:solidFill>
                  <a:srgbClr val="7A7A75"/>
                </a:solidFill>
                <a:latin typeface="Calibri" pitchFamily="34" charset="0"/>
                <a:ea typeface="Calibri" pitchFamily="34" charset="-122"/>
                <a:cs typeface="Calibri" pitchFamily="34" charset="-120"/>
              </a:rPr>
              <a:t>for ever</a:t>
            </a:r>
            <a:endParaRPr lang="en-US" sz="1050" dirty="0"/>
          </a:p>
        </p:txBody>
      </p:sp>
      <p:sp>
        <p:nvSpPr>
          <p:cNvPr id="8" name="Text 6"/>
          <p:cNvSpPr txBox="1"/>
          <p:nvPr/>
        </p:nvSpPr>
        <p:spPr>
          <a:xfrm>
            <a:off x="859536" y="3840480"/>
            <a:ext cx="1691640" cy="365760"/>
          </a:xfrm>
          <a:prstGeom prst="rect">
            <a:avLst/>
          </a:prstGeom>
          <a:noFill/>
          <a:ln/>
        </p:spPr>
        <p:txBody>
          <a:bodyPr wrap="square" lIns="0" tIns="0" rIns="0" bIns="0" rtlCol="0" anchor="ctr"/>
          <a:lstStyle/>
          <a:p>
            <a:pPr indent="0" marL="0">
              <a:buNone/>
            </a:pPr>
            <a:r>
              <a:rPr lang="en-US" sz="1000" dirty="0">
                <a:solidFill>
                  <a:srgbClr val="9C9C97"/>
                </a:solidFill>
                <a:latin typeface="Courier New" pitchFamily="34" charset="0"/>
                <a:ea typeface="Courier New" pitchFamily="34" charset="-122"/>
                <a:cs typeface="Courier New" pitchFamily="34" charset="-120"/>
              </a:rPr>
              <a:t>100 credits to start</a:t>
            </a:r>
            <a:endParaRPr lang="en-US" sz="1000" dirty="0"/>
          </a:p>
        </p:txBody>
      </p:sp>
      <p:sp>
        <p:nvSpPr>
          <p:cNvPr id="9" name="Text 7"/>
          <p:cNvSpPr txBox="1"/>
          <p:nvPr/>
        </p:nvSpPr>
        <p:spPr>
          <a:xfrm>
            <a:off x="859536" y="4279392"/>
            <a:ext cx="1645920" cy="822960"/>
          </a:xfrm>
          <a:prstGeom prst="rect">
            <a:avLst/>
          </a:prstGeom>
          <a:noFill/>
          <a:ln/>
        </p:spPr>
        <p:txBody>
          <a:bodyPr wrap="square" lIns="0" tIns="0" rIns="0" bIns="0" rtlCol="0" anchor="ctr"/>
          <a:lstStyle/>
          <a:p>
            <a:pPr indent="0" marL="0">
              <a:lnSpc>
                <a:spcPts val="1500"/>
              </a:lnSpc>
              <a:buNone/>
            </a:pPr>
            <a:r>
              <a:rPr lang="en-US" sz="1100" dirty="0">
                <a:solidFill>
                  <a:srgbClr val="9C9C97"/>
                </a:solidFill>
                <a:latin typeface="Calibri" pitchFamily="34" charset="0"/>
                <a:ea typeface="Calibri" pitchFamily="34" charset="-122"/>
                <a:cs typeface="Calibri" pitchFamily="34" charset="-120"/>
              </a:rPr>
              <a:t>Diagnose, and try the whole OS.</a:t>
            </a:r>
            <a:endParaRPr lang="en-US" sz="1100" dirty="0"/>
          </a:p>
        </p:txBody>
      </p:sp>
      <p:sp>
        <p:nvSpPr>
          <p:cNvPr id="10" name="Shape 8"/>
          <p:cNvSpPr/>
          <p:nvPr/>
        </p:nvSpPr>
        <p:spPr>
          <a:xfrm>
            <a:off x="2871216" y="2286000"/>
            <a:ext cx="2029968" cy="3017520"/>
          </a:xfrm>
          <a:prstGeom prst="roundRect">
            <a:avLst>
              <a:gd name="adj" fmla="val 3604"/>
            </a:avLst>
          </a:prstGeom>
          <a:solidFill>
            <a:srgbClr val="151516"/>
          </a:solidFill>
          <a:ln w="9525">
            <a:solidFill>
              <a:srgbClr val="2A2A2C"/>
            </a:solidFill>
            <a:prstDash val="solid"/>
          </a:ln>
        </p:spPr>
      </p:sp>
      <p:sp>
        <p:nvSpPr>
          <p:cNvPr id="11" name="Text 9"/>
          <p:cNvSpPr txBox="1"/>
          <p:nvPr/>
        </p:nvSpPr>
        <p:spPr>
          <a:xfrm>
            <a:off x="3090672" y="2523744"/>
            <a:ext cx="1645920" cy="274320"/>
          </a:xfrm>
          <a:prstGeom prst="rect">
            <a:avLst/>
          </a:prstGeom>
          <a:noFill/>
          <a:ln/>
        </p:spPr>
        <p:txBody>
          <a:bodyPr wrap="square" lIns="0" tIns="0" rIns="0" bIns="0" rtlCol="0" anchor="ctr"/>
          <a:lstStyle/>
          <a:p>
            <a:pPr indent="0" marL="0">
              <a:buNone/>
            </a:pPr>
            <a:r>
              <a:rPr lang="en-US" sz="1000" b="1" spc="160" kern="0" dirty="0">
                <a:solidFill>
                  <a:srgbClr val="7A7A75"/>
                </a:solidFill>
                <a:latin typeface="Courier New" pitchFamily="34" charset="0"/>
                <a:ea typeface="Courier New" pitchFamily="34" charset="-122"/>
                <a:cs typeface="Courier New" pitchFamily="34" charset="-120"/>
              </a:rPr>
              <a:t>STARTER</a:t>
            </a:r>
            <a:endParaRPr lang="en-US" sz="1000" dirty="0"/>
          </a:p>
        </p:txBody>
      </p:sp>
      <p:sp>
        <p:nvSpPr>
          <p:cNvPr id="12" name="Text 10"/>
          <p:cNvSpPr txBox="1"/>
          <p:nvPr/>
        </p:nvSpPr>
        <p:spPr>
          <a:xfrm>
            <a:off x="3090672" y="2852928"/>
            <a:ext cx="1691640" cy="658368"/>
          </a:xfrm>
          <a:prstGeom prst="rect">
            <a:avLst/>
          </a:prstGeom>
          <a:noFill/>
          <a:ln/>
        </p:spPr>
        <p:txBody>
          <a:bodyPr wrap="square" lIns="0" tIns="0" rIns="0" bIns="0" rtlCol="0" anchor="ctr"/>
          <a:lstStyle/>
          <a:p>
            <a:pPr indent="0" marL="0">
              <a:buNone/>
            </a:pPr>
            <a:r>
              <a:rPr lang="en-US" sz="3400" b="1" dirty="0">
                <a:solidFill>
                  <a:srgbClr val="EFEFED"/>
                </a:solidFill>
                <a:latin typeface="Arial" pitchFamily="34" charset="0"/>
                <a:ea typeface="Arial" pitchFamily="34" charset="-122"/>
                <a:cs typeface="Arial" pitchFamily="34" charset="-120"/>
              </a:rPr>
              <a:t>£19</a:t>
            </a:r>
            <a:endParaRPr lang="en-US" sz="3400" dirty="0"/>
          </a:p>
        </p:txBody>
      </p:sp>
      <p:sp>
        <p:nvSpPr>
          <p:cNvPr id="13" name="Text 11"/>
          <p:cNvSpPr txBox="1"/>
          <p:nvPr/>
        </p:nvSpPr>
        <p:spPr>
          <a:xfrm>
            <a:off x="3090672" y="3511296"/>
            <a:ext cx="1645920" cy="237744"/>
          </a:xfrm>
          <a:prstGeom prst="rect">
            <a:avLst/>
          </a:prstGeom>
          <a:noFill/>
          <a:ln/>
        </p:spPr>
        <p:txBody>
          <a:bodyPr wrap="square" lIns="0" tIns="0" rIns="0" bIns="0" rtlCol="0" anchor="ctr"/>
          <a:lstStyle/>
          <a:p>
            <a:pPr indent="0" marL="0">
              <a:buNone/>
            </a:pPr>
            <a:r>
              <a:rPr lang="en-US" sz="1050" dirty="0">
                <a:solidFill>
                  <a:srgbClr val="7A7A75"/>
                </a:solidFill>
                <a:latin typeface="Calibri" pitchFamily="34" charset="0"/>
                <a:ea typeface="Calibri" pitchFamily="34" charset="-122"/>
                <a:cs typeface="Calibri" pitchFamily="34" charset="-120"/>
              </a:rPr>
              <a:t>per month</a:t>
            </a:r>
            <a:endParaRPr lang="en-US" sz="1050" dirty="0"/>
          </a:p>
        </p:txBody>
      </p:sp>
      <p:sp>
        <p:nvSpPr>
          <p:cNvPr id="14" name="Text 12"/>
          <p:cNvSpPr txBox="1"/>
          <p:nvPr/>
        </p:nvSpPr>
        <p:spPr>
          <a:xfrm>
            <a:off x="3090672" y="3840480"/>
            <a:ext cx="1691640" cy="365760"/>
          </a:xfrm>
          <a:prstGeom prst="rect">
            <a:avLst/>
          </a:prstGeom>
          <a:noFill/>
          <a:ln/>
        </p:spPr>
        <p:txBody>
          <a:bodyPr wrap="square" lIns="0" tIns="0" rIns="0" bIns="0" rtlCol="0" anchor="ctr"/>
          <a:lstStyle/>
          <a:p>
            <a:pPr indent="0" marL="0">
              <a:buNone/>
            </a:pPr>
            <a:r>
              <a:rPr lang="en-US" sz="1000" dirty="0">
                <a:solidFill>
                  <a:srgbClr val="9C9C97"/>
                </a:solidFill>
                <a:latin typeface="Courier New" pitchFamily="34" charset="0"/>
                <a:ea typeface="Courier New" pitchFamily="34" charset="-122"/>
                <a:cs typeface="Courier New" pitchFamily="34" charset="-120"/>
              </a:rPr>
              <a:t>380 credits / month</a:t>
            </a:r>
            <a:endParaRPr lang="en-US" sz="1000" dirty="0"/>
          </a:p>
        </p:txBody>
      </p:sp>
      <p:sp>
        <p:nvSpPr>
          <p:cNvPr id="15" name="Text 13"/>
          <p:cNvSpPr txBox="1"/>
          <p:nvPr/>
        </p:nvSpPr>
        <p:spPr>
          <a:xfrm>
            <a:off x="3090672" y="4279392"/>
            <a:ext cx="1645920" cy="822960"/>
          </a:xfrm>
          <a:prstGeom prst="rect">
            <a:avLst/>
          </a:prstGeom>
          <a:noFill/>
          <a:ln/>
        </p:spPr>
        <p:txBody>
          <a:bodyPr wrap="square" lIns="0" tIns="0" rIns="0" bIns="0" rtlCol="0" anchor="ctr"/>
          <a:lstStyle/>
          <a:p>
            <a:pPr indent="0" marL="0">
              <a:lnSpc>
                <a:spcPts val="1500"/>
              </a:lnSpc>
              <a:buNone/>
            </a:pPr>
            <a:r>
              <a:rPr lang="en-US" sz="1100" dirty="0">
                <a:solidFill>
                  <a:srgbClr val="9C9C97"/>
                </a:solidFill>
                <a:latin typeface="Calibri" pitchFamily="34" charset="0"/>
                <a:ea typeface="Calibri" pitchFamily="34" charset="-122"/>
                <a:cs typeface="Calibri" pitchFamily="34" charset="-120"/>
              </a:rPr>
              <a:t>Your first real campaigns.</a:t>
            </a:r>
            <a:endParaRPr lang="en-US" sz="1100" dirty="0"/>
          </a:p>
        </p:txBody>
      </p:sp>
      <p:sp>
        <p:nvSpPr>
          <p:cNvPr id="16" name="Shape 14"/>
          <p:cNvSpPr/>
          <p:nvPr/>
        </p:nvSpPr>
        <p:spPr>
          <a:xfrm>
            <a:off x="5102352" y="2286000"/>
            <a:ext cx="2029968" cy="3017520"/>
          </a:xfrm>
          <a:prstGeom prst="roundRect">
            <a:avLst>
              <a:gd name="adj" fmla="val 3604"/>
            </a:avLst>
          </a:prstGeom>
          <a:solidFill>
            <a:srgbClr val="1F1A12"/>
          </a:solidFill>
          <a:ln w="17780">
            <a:solidFill>
              <a:srgbClr val="BE9247"/>
            </a:solidFill>
            <a:prstDash val="solid"/>
          </a:ln>
        </p:spPr>
      </p:sp>
      <p:sp>
        <p:nvSpPr>
          <p:cNvPr id="17" name="Text 15"/>
          <p:cNvSpPr txBox="1"/>
          <p:nvPr/>
        </p:nvSpPr>
        <p:spPr>
          <a:xfrm>
            <a:off x="5321808" y="2523744"/>
            <a:ext cx="1645920" cy="274320"/>
          </a:xfrm>
          <a:prstGeom prst="rect">
            <a:avLst/>
          </a:prstGeom>
          <a:noFill/>
          <a:ln/>
        </p:spPr>
        <p:txBody>
          <a:bodyPr wrap="square" lIns="0" tIns="0" rIns="0" bIns="0" rtlCol="0" anchor="ctr"/>
          <a:lstStyle/>
          <a:p>
            <a:pPr indent="0" marL="0">
              <a:buNone/>
            </a:pPr>
            <a:r>
              <a:rPr lang="en-US" sz="1000" b="1" spc="160" kern="0" dirty="0">
                <a:solidFill>
                  <a:srgbClr val="BE9247"/>
                </a:solidFill>
                <a:latin typeface="Courier New" pitchFamily="34" charset="0"/>
                <a:ea typeface="Courier New" pitchFamily="34" charset="-122"/>
                <a:cs typeface="Courier New" pitchFamily="34" charset="-120"/>
              </a:rPr>
              <a:t>GROWTH</a:t>
            </a:r>
            <a:endParaRPr lang="en-US" sz="1000" dirty="0"/>
          </a:p>
        </p:txBody>
      </p:sp>
      <p:sp>
        <p:nvSpPr>
          <p:cNvPr id="18" name="Text 16"/>
          <p:cNvSpPr txBox="1"/>
          <p:nvPr/>
        </p:nvSpPr>
        <p:spPr>
          <a:xfrm>
            <a:off x="5321808" y="2852928"/>
            <a:ext cx="1691640" cy="658368"/>
          </a:xfrm>
          <a:prstGeom prst="rect">
            <a:avLst/>
          </a:prstGeom>
          <a:noFill/>
          <a:ln/>
        </p:spPr>
        <p:txBody>
          <a:bodyPr wrap="square" lIns="0" tIns="0" rIns="0" bIns="0" rtlCol="0" anchor="ctr"/>
          <a:lstStyle/>
          <a:p>
            <a:pPr indent="0" marL="0">
              <a:buNone/>
            </a:pPr>
            <a:r>
              <a:rPr lang="en-US" sz="3400" b="1" dirty="0">
                <a:solidFill>
                  <a:srgbClr val="DABE81"/>
                </a:solidFill>
                <a:latin typeface="Arial" pitchFamily="34" charset="0"/>
                <a:ea typeface="Arial" pitchFamily="34" charset="-122"/>
                <a:cs typeface="Arial" pitchFamily="34" charset="-120"/>
              </a:rPr>
              <a:t>£49</a:t>
            </a:r>
            <a:endParaRPr lang="en-US" sz="3400" dirty="0"/>
          </a:p>
        </p:txBody>
      </p:sp>
      <p:sp>
        <p:nvSpPr>
          <p:cNvPr id="19" name="Text 17"/>
          <p:cNvSpPr txBox="1"/>
          <p:nvPr/>
        </p:nvSpPr>
        <p:spPr>
          <a:xfrm>
            <a:off x="5321808" y="3511296"/>
            <a:ext cx="1645920" cy="237744"/>
          </a:xfrm>
          <a:prstGeom prst="rect">
            <a:avLst/>
          </a:prstGeom>
          <a:noFill/>
          <a:ln/>
        </p:spPr>
        <p:txBody>
          <a:bodyPr wrap="square" lIns="0" tIns="0" rIns="0" bIns="0" rtlCol="0" anchor="ctr"/>
          <a:lstStyle/>
          <a:p>
            <a:pPr indent="0" marL="0">
              <a:buNone/>
            </a:pPr>
            <a:r>
              <a:rPr lang="en-US" sz="1050" dirty="0">
                <a:solidFill>
                  <a:srgbClr val="7A7A75"/>
                </a:solidFill>
                <a:latin typeface="Calibri" pitchFamily="34" charset="0"/>
                <a:ea typeface="Calibri" pitchFamily="34" charset="-122"/>
                <a:cs typeface="Calibri" pitchFamily="34" charset="-120"/>
              </a:rPr>
              <a:t>per month</a:t>
            </a:r>
            <a:endParaRPr lang="en-US" sz="1050" dirty="0"/>
          </a:p>
        </p:txBody>
      </p:sp>
      <p:sp>
        <p:nvSpPr>
          <p:cNvPr id="20" name="Text 18"/>
          <p:cNvSpPr txBox="1"/>
          <p:nvPr/>
        </p:nvSpPr>
        <p:spPr>
          <a:xfrm>
            <a:off x="5321808" y="3840480"/>
            <a:ext cx="1691640" cy="365760"/>
          </a:xfrm>
          <a:prstGeom prst="rect">
            <a:avLst/>
          </a:prstGeom>
          <a:noFill/>
          <a:ln/>
        </p:spPr>
        <p:txBody>
          <a:bodyPr wrap="square" lIns="0" tIns="0" rIns="0" bIns="0" rtlCol="0" anchor="ctr"/>
          <a:lstStyle/>
          <a:p>
            <a:pPr indent="0" marL="0">
              <a:buNone/>
            </a:pPr>
            <a:r>
              <a:rPr lang="en-US" sz="1000" dirty="0">
                <a:solidFill>
                  <a:srgbClr val="BE9247"/>
                </a:solidFill>
                <a:latin typeface="Courier New" pitchFamily="34" charset="0"/>
                <a:ea typeface="Courier New" pitchFamily="34" charset="-122"/>
                <a:cs typeface="Courier New" pitchFamily="34" charset="-120"/>
              </a:rPr>
              <a:t>980 credits / month</a:t>
            </a:r>
            <a:endParaRPr lang="en-US" sz="1000" dirty="0"/>
          </a:p>
        </p:txBody>
      </p:sp>
      <p:sp>
        <p:nvSpPr>
          <p:cNvPr id="21" name="Text 19"/>
          <p:cNvSpPr txBox="1"/>
          <p:nvPr/>
        </p:nvSpPr>
        <p:spPr>
          <a:xfrm>
            <a:off x="5321808" y="4279392"/>
            <a:ext cx="1645920" cy="822960"/>
          </a:xfrm>
          <a:prstGeom prst="rect">
            <a:avLst/>
          </a:prstGeom>
          <a:noFill/>
          <a:ln/>
        </p:spPr>
        <p:txBody>
          <a:bodyPr wrap="square" lIns="0" tIns="0" rIns="0" bIns="0" rtlCol="0" anchor="ctr"/>
          <a:lstStyle/>
          <a:p>
            <a:pPr indent="0" marL="0">
              <a:lnSpc>
                <a:spcPts val="1500"/>
              </a:lnSpc>
              <a:buNone/>
            </a:pPr>
            <a:r>
              <a:rPr lang="en-US" sz="1100" dirty="0">
                <a:solidFill>
                  <a:srgbClr val="9C9C97"/>
                </a:solidFill>
                <a:latin typeface="Calibri" pitchFamily="34" charset="0"/>
                <a:ea typeface="Calibri" pitchFamily="34" charset="-122"/>
                <a:cs typeface="Calibri" pitchFamily="34" charset="-120"/>
              </a:rPr>
              <a:t>The full acquisition machine.</a:t>
            </a:r>
            <a:endParaRPr lang="en-US" sz="1100" dirty="0"/>
          </a:p>
        </p:txBody>
      </p:sp>
      <p:sp>
        <p:nvSpPr>
          <p:cNvPr id="22" name="Shape 20"/>
          <p:cNvSpPr/>
          <p:nvPr/>
        </p:nvSpPr>
        <p:spPr>
          <a:xfrm>
            <a:off x="7333488" y="2286000"/>
            <a:ext cx="2029968" cy="3017520"/>
          </a:xfrm>
          <a:prstGeom prst="roundRect">
            <a:avLst>
              <a:gd name="adj" fmla="val 3604"/>
            </a:avLst>
          </a:prstGeom>
          <a:solidFill>
            <a:srgbClr val="151516"/>
          </a:solidFill>
          <a:ln w="9525">
            <a:solidFill>
              <a:srgbClr val="2A2A2C"/>
            </a:solidFill>
            <a:prstDash val="solid"/>
          </a:ln>
        </p:spPr>
      </p:sp>
      <p:sp>
        <p:nvSpPr>
          <p:cNvPr id="23" name="Text 21"/>
          <p:cNvSpPr txBox="1"/>
          <p:nvPr/>
        </p:nvSpPr>
        <p:spPr>
          <a:xfrm>
            <a:off x="7552944" y="2523744"/>
            <a:ext cx="1645920" cy="274320"/>
          </a:xfrm>
          <a:prstGeom prst="rect">
            <a:avLst/>
          </a:prstGeom>
          <a:noFill/>
          <a:ln/>
        </p:spPr>
        <p:txBody>
          <a:bodyPr wrap="square" lIns="0" tIns="0" rIns="0" bIns="0" rtlCol="0" anchor="ctr"/>
          <a:lstStyle/>
          <a:p>
            <a:pPr indent="0" marL="0">
              <a:buNone/>
            </a:pPr>
            <a:r>
              <a:rPr lang="en-US" sz="1000" b="1" spc="160" kern="0" dirty="0">
                <a:solidFill>
                  <a:srgbClr val="7A7A75"/>
                </a:solidFill>
                <a:latin typeface="Courier New" pitchFamily="34" charset="0"/>
                <a:ea typeface="Courier New" pitchFamily="34" charset="-122"/>
                <a:cs typeface="Courier New" pitchFamily="34" charset="-120"/>
              </a:rPr>
              <a:t>SCALE</a:t>
            </a:r>
            <a:endParaRPr lang="en-US" sz="1000" dirty="0"/>
          </a:p>
        </p:txBody>
      </p:sp>
      <p:sp>
        <p:nvSpPr>
          <p:cNvPr id="24" name="Text 22"/>
          <p:cNvSpPr txBox="1"/>
          <p:nvPr/>
        </p:nvSpPr>
        <p:spPr>
          <a:xfrm>
            <a:off x="7552944" y="2852928"/>
            <a:ext cx="1691640" cy="658368"/>
          </a:xfrm>
          <a:prstGeom prst="rect">
            <a:avLst/>
          </a:prstGeom>
          <a:noFill/>
          <a:ln/>
        </p:spPr>
        <p:txBody>
          <a:bodyPr wrap="square" lIns="0" tIns="0" rIns="0" bIns="0" rtlCol="0" anchor="ctr"/>
          <a:lstStyle/>
          <a:p>
            <a:pPr indent="0" marL="0">
              <a:buNone/>
            </a:pPr>
            <a:r>
              <a:rPr lang="en-US" sz="3400" b="1" dirty="0">
                <a:solidFill>
                  <a:srgbClr val="EFEFED"/>
                </a:solidFill>
                <a:latin typeface="Arial" pitchFamily="34" charset="0"/>
                <a:ea typeface="Arial" pitchFamily="34" charset="-122"/>
                <a:cs typeface="Arial" pitchFamily="34" charset="-120"/>
              </a:rPr>
              <a:t>£149</a:t>
            </a:r>
            <a:endParaRPr lang="en-US" sz="3400" dirty="0"/>
          </a:p>
        </p:txBody>
      </p:sp>
      <p:sp>
        <p:nvSpPr>
          <p:cNvPr id="25" name="Text 23"/>
          <p:cNvSpPr txBox="1"/>
          <p:nvPr/>
        </p:nvSpPr>
        <p:spPr>
          <a:xfrm>
            <a:off x="7552944" y="3511296"/>
            <a:ext cx="1645920" cy="237744"/>
          </a:xfrm>
          <a:prstGeom prst="rect">
            <a:avLst/>
          </a:prstGeom>
          <a:noFill/>
          <a:ln/>
        </p:spPr>
        <p:txBody>
          <a:bodyPr wrap="square" lIns="0" tIns="0" rIns="0" bIns="0" rtlCol="0" anchor="ctr"/>
          <a:lstStyle/>
          <a:p>
            <a:pPr indent="0" marL="0">
              <a:buNone/>
            </a:pPr>
            <a:r>
              <a:rPr lang="en-US" sz="1050" dirty="0">
                <a:solidFill>
                  <a:srgbClr val="7A7A75"/>
                </a:solidFill>
                <a:latin typeface="Calibri" pitchFamily="34" charset="0"/>
                <a:ea typeface="Calibri" pitchFamily="34" charset="-122"/>
                <a:cs typeface="Calibri" pitchFamily="34" charset="-120"/>
              </a:rPr>
              <a:t>per month</a:t>
            </a:r>
            <a:endParaRPr lang="en-US" sz="1050" dirty="0"/>
          </a:p>
        </p:txBody>
      </p:sp>
      <p:sp>
        <p:nvSpPr>
          <p:cNvPr id="26" name="Text 24"/>
          <p:cNvSpPr txBox="1"/>
          <p:nvPr/>
        </p:nvSpPr>
        <p:spPr>
          <a:xfrm>
            <a:off x="7552944" y="3840480"/>
            <a:ext cx="1691640" cy="365760"/>
          </a:xfrm>
          <a:prstGeom prst="rect">
            <a:avLst/>
          </a:prstGeom>
          <a:noFill/>
          <a:ln/>
        </p:spPr>
        <p:txBody>
          <a:bodyPr wrap="square" lIns="0" tIns="0" rIns="0" bIns="0" rtlCol="0" anchor="ctr"/>
          <a:lstStyle/>
          <a:p>
            <a:pPr indent="0" marL="0">
              <a:buNone/>
            </a:pPr>
            <a:r>
              <a:rPr lang="en-US" sz="1000" dirty="0">
                <a:solidFill>
                  <a:srgbClr val="9C9C97"/>
                </a:solidFill>
                <a:latin typeface="Courier New" pitchFamily="34" charset="0"/>
                <a:ea typeface="Courier New" pitchFamily="34" charset="-122"/>
                <a:cs typeface="Courier New" pitchFamily="34" charset="-120"/>
              </a:rPr>
              <a:t>2,980 credits / month</a:t>
            </a:r>
            <a:endParaRPr lang="en-US" sz="1000" dirty="0"/>
          </a:p>
        </p:txBody>
      </p:sp>
      <p:sp>
        <p:nvSpPr>
          <p:cNvPr id="27" name="Text 25"/>
          <p:cNvSpPr txBox="1"/>
          <p:nvPr/>
        </p:nvSpPr>
        <p:spPr>
          <a:xfrm>
            <a:off x="7552944" y="4279392"/>
            <a:ext cx="1645920" cy="822960"/>
          </a:xfrm>
          <a:prstGeom prst="rect">
            <a:avLst/>
          </a:prstGeom>
          <a:noFill/>
          <a:ln/>
        </p:spPr>
        <p:txBody>
          <a:bodyPr wrap="square" lIns="0" tIns="0" rIns="0" bIns="0" rtlCol="0" anchor="ctr"/>
          <a:lstStyle/>
          <a:p>
            <a:pPr indent="0" marL="0">
              <a:lnSpc>
                <a:spcPts val="1500"/>
              </a:lnSpc>
              <a:buNone/>
            </a:pPr>
            <a:r>
              <a:rPr lang="en-US" sz="1100" dirty="0">
                <a:solidFill>
                  <a:srgbClr val="9C9C97"/>
                </a:solidFill>
                <a:latin typeface="Calibri" pitchFamily="34" charset="0"/>
                <a:ea typeface="Calibri" pitchFamily="34" charset="-122"/>
                <a:cs typeface="Calibri" pitchFamily="34" charset="-120"/>
              </a:rPr>
              <a:t>Multi-brand operators.</a:t>
            </a:r>
            <a:endParaRPr lang="en-US" sz="1100" dirty="0"/>
          </a:p>
        </p:txBody>
      </p:sp>
      <p:sp>
        <p:nvSpPr>
          <p:cNvPr id="28" name="Shape 26"/>
          <p:cNvSpPr/>
          <p:nvPr/>
        </p:nvSpPr>
        <p:spPr>
          <a:xfrm>
            <a:off x="9564624" y="2286000"/>
            <a:ext cx="2029968" cy="3017520"/>
          </a:xfrm>
          <a:prstGeom prst="roundRect">
            <a:avLst>
              <a:gd name="adj" fmla="val 3604"/>
            </a:avLst>
          </a:prstGeom>
          <a:solidFill>
            <a:srgbClr val="151516"/>
          </a:solidFill>
          <a:ln w="9525">
            <a:solidFill>
              <a:srgbClr val="2A2A2C"/>
            </a:solidFill>
            <a:prstDash val="solid"/>
          </a:ln>
        </p:spPr>
      </p:sp>
      <p:sp>
        <p:nvSpPr>
          <p:cNvPr id="29" name="Text 27"/>
          <p:cNvSpPr txBox="1"/>
          <p:nvPr/>
        </p:nvSpPr>
        <p:spPr>
          <a:xfrm>
            <a:off x="9784080" y="2523744"/>
            <a:ext cx="1645920" cy="274320"/>
          </a:xfrm>
          <a:prstGeom prst="rect">
            <a:avLst/>
          </a:prstGeom>
          <a:noFill/>
          <a:ln/>
        </p:spPr>
        <p:txBody>
          <a:bodyPr wrap="square" lIns="0" tIns="0" rIns="0" bIns="0" rtlCol="0" anchor="ctr"/>
          <a:lstStyle/>
          <a:p>
            <a:pPr indent="0" marL="0">
              <a:buNone/>
            </a:pPr>
            <a:r>
              <a:rPr lang="en-US" sz="1000" b="1" spc="160" kern="0" dirty="0">
                <a:solidFill>
                  <a:srgbClr val="7A7A75"/>
                </a:solidFill>
                <a:latin typeface="Courier New" pitchFamily="34" charset="0"/>
                <a:ea typeface="Courier New" pitchFamily="34" charset="-122"/>
                <a:cs typeface="Courier New" pitchFamily="34" charset="-120"/>
              </a:rPr>
              <a:t>BUSINESS</a:t>
            </a:r>
            <a:endParaRPr lang="en-US" sz="1000" dirty="0"/>
          </a:p>
        </p:txBody>
      </p:sp>
      <p:sp>
        <p:nvSpPr>
          <p:cNvPr id="30" name="Text 28"/>
          <p:cNvSpPr txBox="1"/>
          <p:nvPr/>
        </p:nvSpPr>
        <p:spPr>
          <a:xfrm>
            <a:off x="9784080" y="2852928"/>
            <a:ext cx="1691640" cy="658368"/>
          </a:xfrm>
          <a:prstGeom prst="rect">
            <a:avLst/>
          </a:prstGeom>
          <a:noFill/>
          <a:ln/>
        </p:spPr>
        <p:txBody>
          <a:bodyPr wrap="square" lIns="0" tIns="0" rIns="0" bIns="0" rtlCol="0" anchor="ctr"/>
          <a:lstStyle/>
          <a:p>
            <a:pPr indent="0" marL="0">
              <a:buNone/>
            </a:pPr>
            <a:r>
              <a:rPr lang="en-US" sz="3400" b="1" dirty="0">
                <a:solidFill>
                  <a:srgbClr val="EFEFED"/>
                </a:solidFill>
                <a:latin typeface="Arial" pitchFamily="34" charset="0"/>
                <a:ea typeface="Arial" pitchFamily="34" charset="-122"/>
                <a:cs typeface="Arial" pitchFamily="34" charset="-120"/>
              </a:rPr>
              <a:t>£399</a:t>
            </a:r>
            <a:endParaRPr lang="en-US" sz="3400" dirty="0"/>
          </a:p>
        </p:txBody>
      </p:sp>
      <p:sp>
        <p:nvSpPr>
          <p:cNvPr id="31" name="Text 29"/>
          <p:cNvSpPr txBox="1"/>
          <p:nvPr/>
        </p:nvSpPr>
        <p:spPr>
          <a:xfrm>
            <a:off x="9784080" y="3511296"/>
            <a:ext cx="1645920" cy="237744"/>
          </a:xfrm>
          <a:prstGeom prst="rect">
            <a:avLst/>
          </a:prstGeom>
          <a:noFill/>
          <a:ln/>
        </p:spPr>
        <p:txBody>
          <a:bodyPr wrap="square" lIns="0" tIns="0" rIns="0" bIns="0" rtlCol="0" anchor="ctr"/>
          <a:lstStyle/>
          <a:p>
            <a:pPr indent="0" marL="0">
              <a:buNone/>
            </a:pPr>
            <a:r>
              <a:rPr lang="en-US" sz="1050" dirty="0">
                <a:solidFill>
                  <a:srgbClr val="7A7A75"/>
                </a:solidFill>
                <a:latin typeface="Calibri" pitchFamily="34" charset="0"/>
                <a:ea typeface="Calibri" pitchFamily="34" charset="-122"/>
                <a:cs typeface="Calibri" pitchFamily="34" charset="-120"/>
              </a:rPr>
              <a:t>per month</a:t>
            </a:r>
            <a:endParaRPr lang="en-US" sz="1050" dirty="0"/>
          </a:p>
        </p:txBody>
      </p:sp>
      <p:sp>
        <p:nvSpPr>
          <p:cNvPr id="32" name="Text 30"/>
          <p:cNvSpPr txBox="1"/>
          <p:nvPr/>
        </p:nvSpPr>
        <p:spPr>
          <a:xfrm>
            <a:off x="9784080" y="3840480"/>
            <a:ext cx="1691640" cy="365760"/>
          </a:xfrm>
          <a:prstGeom prst="rect">
            <a:avLst/>
          </a:prstGeom>
          <a:noFill/>
          <a:ln/>
        </p:spPr>
        <p:txBody>
          <a:bodyPr wrap="square" lIns="0" tIns="0" rIns="0" bIns="0" rtlCol="0" anchor="ctr"/>
          <a:lstStyle/>
          <a:p>
            <a:pPr indent="0" marL="0">
              <a:buNone/>
            </a:pPr>
            <a:r>
              <a:rPr lang="en-US" sz="1000" dirty="0">
                <a:solidFill>
                  <a:srgbClr val="9C9C97"/>
                </a:solidFill>
                <a:latin typeface="Courier New" pitchFamily="34" charset="0"/>
                <a:ea typeface="Courier New" pitchFamily="34" charset="-122"/>
                <a:cs typeface="Courier New" pitchFamily="34" charset="-120"/>
              </a:rPr>
              <a:t>7,980 credits / month</a:t>
            </a:r>
            <a:endParaRPr lang="en-US" sz="1000" dirty="0"/>
          </a:p>
        </p:txBody>
      </p:sp>
      <p:sp>
        <p:nvSpPr>
          <p:cNvPr id="33" name="Text 31"/>
          <p:cNvSpPr txBox="1"/>
          <p:nvPr/>
        </p:nvSpPr>
        <p:spPr>
          <a:xfrm>
            <a:off x="9784080" y="4279392"/>
            <a:ext cx="1645920" cy="822960"/>
          </a:xfrm>
          <a:prstGeom prst="rect">
            <a:avLst/>
          </a:prstGeom>
          <a:noFill/>
          <a:ln/>
        </p:spPr>
        <p:txBody>
          <a:bodyPr wrap="square" lIns="0" tIns="0" rIns="0" bIns="0" rtlCol="0" anchor="ctr"/>
          <a:lstStyle/>
          <a:p>
            <a:pPr indent="0" marL="0">
              <a:lnSpc>
                <a:spcPts val="1500"/>
              </a:lnSpc>
              <a:buNone/>
            </a:pPr>
            <a:r>
              <a:rPr lang="en-US" sz="1100" dirty="0">
                <a:solidFill>
                  <a:srgbClr val="9C9C97"/>
                </a:solidFill>
                <a:latin typeface="Calibri" pitchFamily="34" charset="0"/>
                <a:ea typeface="Calibri" pitchFamily="34" charset="-122"/>
                <a:cs typeface="Calibri" pitchFamily="34" charset="-120"/>
              </a:rPr>
              <a:t>Agencies and franchises.</a:t>
            </a:r>
            <a:endParaRPr lang="en-US" sz="1100" dirty="0"/>
          </a:p>
        </p:txBody>
      </p:sp>
      <p:sp>
        <p:nvSpPr>
          <p:cNvPr id="34" name="Text 32"/>
          <p:cNvSpPr txBox="1"/>
          <p:nvPr/>
        </p:nvSpPr>
        <p:spPr>
          <a:xfrm>
            <a:off x="640080" y="5532120"/>
            <a:ext cx="10881360" cy="548640"/>
          </a:xfrm>
          <a:prstGeom prst="rect">
            <a:avLst/>
          </a:prstGeom>
          <a:noFill/>
          <a:ln/>
        </p:spPr>
        <p:txBody>
          <a:bodyPr wrap="square" lIns="0" tIns="0" rIns="0" bIns="0" rtlCol="0" anchor="ctr"/>
          <a:lstStyle/>
          <a:p>
            <a:pPr indent="0" marL="0">
              <a:lnSpc>
                <a:spcPts val="1800"/>
              </a:lnSpc>
              <a:buNone/>
            </a:pPr>
            <a:r>
              <a:rPr lang="en-US" sz="1250" dirty="0">
                <a:solidFill>
                  <a:srgbClr val="9C9C97"/>
                </a:solidFill>
                <a:latin typeface="Calibri" pitchFamily="34" charset="0"/>
                <a:ea typeface="Calibri" pitchFamily="34" charset="-122"/>
                <a:cs typeface="Calibri" pitchFamily="34" charset="-120"/>
              </a:rPr>
              <a:t>Annual billing takes 30% off. Three larger tiers run to £7,499 a month for networks and multi-market operators. No card to start, and nothing to cancel if you stop.</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B"/>
        </a:solidFill>
      </p:bgPr>
    </p:bg>
    <p:spTree>
      <p:nvGrpSpPr>
        <p:cNvPr id="1" name=""/>
        <p:cNvGrpSpPr/>
        <p:nvPr/>
      </p:nvGrpSpPr>
      <p:grpSpPr>
        <a:xfrm>
          <a:off x="0" y="0"/>
          <a:ext cx="0" cy="0"/>
          <a:chOff x="0" y="0"/>
          <a:chExt cx="0" cy="0"/>
        </a:xfrm>
      </p:grpSpPr>
      <p:sp>
        <p:nvSpPr>
          <p:cNvPr id="2" name="Text 0"/>
          <p:cNvSpPr txBox="1"/>
          <p:nvPr/>
        </p:nvSpPr>
        <p:spPr>
          <a:xfrm>
            <a:off x="640080" y="475488"/>
            <a:ext cx="7315200" cy="256032"/>
          </a:xfrm>
          <a:prstGeom prst="rect">
            <a:avLst/>
          </a:prstGeom>
          <a:noFill/>
          <a:ln/>
        </p:spPr>
        <p:txBody>
          <a:bodyPr wrap="square" lIns="0" tIns="0" rIns="0" bIns="0" rtlCol="0" anchor="ctr"/>
          <a:lstStyle/>
          <a:p>
            <a:pPr indent="0" marL="0">
              <a:buNone/>
            </a:pPr>
            <a:r>
              <a:rPr lang="en-US" sz="1050" b="1" spc="220" kern="0" dirty="0">
                <a:solidFill>
                  <a:srgbClr val="BE9247"/>
                </a:solidFill>
                <a:latin typeface="Courier New" pitchFamily="34" charset="0"/>
                <a:ea typeface="Courier New" pitchFamily="34" charset="-122"/>
                <a:cs typeface="Courier New" pitchFamily="34" charset="-120"/>
              </a:rPr>
              <a:t>WHY YOU SHOULD BELIEVE ANY OF THIS</a:t>
            </a:r>
            <a:endParaRPr lang="en-US" sz="1050" dirty="0"/>
          </a:p>
        </p:txBody>
      </p:sp>
      <p:sp>
        <p:nvSpPr>
          <p:cNvPr id="3" name="Text 1"/>
          <p:cNvSpPr txBox="1"/>
          <p:nvPr/>
        </p:nvSpPr>
        <p:spPr>
          <a:xfrm>
            <a:off x="640080" y="841248"/>
            <a:ext cx="10881360" cy="1417320"/>
          </a:xfrm>
          <a:prstGeom prst="rect">
            <a:avLst/>
          </a:prstGeom>
          <a:noFill/>
          <a:ln/>
        </p:spPr>
        <p:txBody>
          <a:bodyPr wrap="square" lIns="0" tIns="0" rIns="0" bIns="0" rtlCol="0" anchor="ctr"/>
          <a:lstStyle/>
          <a:p>
            <a:pPr indent="0" marL="0">
              <a:lnSpc>
                <a:spcPts val="4500"/>
              </a:lnSpc>
              <a:buNone/>
            </a:pPr>
            <a:r>
              <a:rPr lang="en-US" sz="4000" b="1" dirty="0">
                <a:solidFill>
                  <a:srgbClr val="EFEFED"/>
                </a:solidFill>
                <a:latin typeface="Arial" pitchFamily="34" charset="0"/>
                <a:ea typeface="Arial" pitchFamily="34" charset="-122"/>
                <a:cs typeface="Arial" pitchFamily="34" charset="-120"/>
              </a:rPr>
              <a:t>We are new. So here is what</a:t>
            </a:r>
            <a:endParaRPr lang="en-US" sz="4000" dirty="0"/>
          </a:p>
          <a:p>
            <a:pPr indent="0" marL="0">
              <a:lnSpc>
                <a:spcPts val="4500"/>
              </a:lnSpc>
              <a:buNone/>
            </a:pPr>
            <a:r>
              <a:rPr lang="en-US" sz="4000" b="1" dirty="0">
                <a:solidFill>
                  <a:srgbClr val="EFEFED"/>
                </a:solidFill>
                <a:latin typeface="Arial" pitchFamily="34" charset="0"/>
                <a:ea typeface="Arial" pitchFamily="34" charset="-122"/>
                <a:cs typeface="Arial" pitchFamily="34" charset="-120"/>
              </a:rPr>
              <a:t>we will not do to win you.</a:t>
            </a:r>
            <a:endParaRPr lang="en-US" sz="4000" dirty="0"/>
          </a:p>
        </p:txBody>
      </p:sp>
      <p:sp>
        <p:nvSpPr>
          <p:cNvPr id="4" name="Shape 2"/>
          <p:cNvSpPr/>
          <p:nvPr/>
        </p:nvSpPr>
        <p:spPr>
          <a:xfrm>
            <a:off x="640080" y="2286000"/>
            <a:ext cx="5303520" cy="1481328"/>
          </a:xfrm>
          <a:prstGeom prst="roundRect">
            <a:avLst>
              <a:gd name="adj" fmla="val 4938"/>
            </a:avLst>
          </a:prstGeom>
          <a:solidFill>
            <a:srgbClr val="151516"/>
          </a:solidFill>
          <a:ln w="9525">
            <a:solidFill>
              <a:srgbClr val="2A2A2C"/>
            </a:solidFill>
            <a:prstDash val="solid"/>
          </a:ln>
        </p:spPr>
      </p:sp>
      <p:sp>
        <p:nvSpPr>
          <p:cNvPr id="5" name="Text 3"/>
          <p:cNvSpPr txBox="1"/>
          <p:nvPr/>
        </p:nvSpPr>
        <p:spPr>
          <a:xfrm>
            <a:off x="932688" y="2468880"/>
            <a:ext cx="4663440" cy="329184"/>
          </a:xfrm>
          <a:prstGeom prst="rect">
            <a:avLst/>
          </a:prstGeom>
          <a:noFill/>
          <a:ln/>
        </p:spPr>
        <p:txBody>
          <a:bodyPr wrap="square" lIns="0" tIns="0" rIns="0" bIns="0" rtlCol="0" anchor="ctr"/>
          <a:lstStyle/>
          <a:p>
            <a:pPr indent="0" marL="0">
              <a:buNone/>
            </a:pPr>
            <a:r>
              <a:rPr lang="en-US" sz="1450" b="1" dirty="0">
                <a:solidFill>
                  <a:srgbClr val="BE9247"/>
                </a:solidFill>
                <a:latin typeface="Arial" pitchFamily="34" charset="0"/>
                <a:ea typeface="Arial" pitchFamily="34" charset="-122"/>
                <a:cs typeface="Arial" pitchFamily="34" charset="-120"/>
              </a:rPr>
              <a:t>No invented reviews</a:t>
            </a:r>
            <a:endParaRPr lang="en-US" sz="1450" dirty="0"/>
          </a:p>
        </p:txBody>
      </p:sp>
      <p:sp>
        <p:nvSpPr>
          <p:cNvPr id="6" name="Text 4"/>
          <p:cNvSpPr txBox="1"/>
          <p:nvPr/>
        </p:nvSpPr>
        <p:spPr>
          <a:xfrm>
            <a:off x="932688" y="2852928"/>
            <a:ext cx="4718304" cy="822960"/>
          </a:xfrm>
          <a:prstGeom prst="rect">
            <a:avLst/>
          </a:prstGeom>
          <a:noFill/>
          <a:ln/>
        </p:spPr>
        <p:txBody>
          <a:bodyPr wrap="square" lIns="0" tIns="0" rIns="0" bIns="0" rtlCol="0" anchor="ctr"/>
          <a:lstStyle/>
          <a:p>
            <a:pPr indent="0" marL="0">
              <a:lnSpc>
                <a:spcPts val="1600"/>
              </a:lnSpc>
              <a:buNone/>
            </a:pPr>
            <a:r>
              <a:rPr lang="en-US" sz="1150" dirty="0">
                <a:solidFill>
                  <a:srgbClr val="9C9C97"/>
                </a:solidFill>
                <a:latin typeface="Calibri" pitchFamily="34" charset="0"/>
                <a:ea typeface="Calibri" pitchFamily="34" charset="-122"/>
                <a:cs typeface="Calibri" pitchFamily="34" charset="-120"/>
              </a:rPr>
              <a:t>There are no testimonials in this deck and none on the site, because we do not have customers to quote yet. Every competitor's wall of five-star cards cost them nothing to make.</a:t>
            </a:r>
            <a:endParaRPr lang="en-US" sz="1150" dirty="0"/>
          </a:p>
        </p:txBody>
      </p:sp>
      <p:sp>
        <p:nvSpPr>
          <p:cNvPr id="7" name="Shape 5"/>
          <p:cNvSpPr/>
          <p:nvPr/>
        </p:nvSpPr>
        <p:spPr>
          <a:xfrm>
            <a:off x="6217920" y="2286000"/>
            <a:ext cx="5303520" cy="1481328"/>
          </a:xfrm>
          <a:prstGeom prst="roundRect">
            <a:avLst>
              <a:gd name="adj" fmla="val 4938"/>
            </a:avLst>
          </a:prstGeom>
          <a:solidFill>
            <a:srgbClr val="151516"/>
          </a:solidFill>
          <a:ln w="9525">
            <a:solidFill>
              <a:srgbClr val="2A2A2C"/>
            </a:solidFill>
            <a:prstDash val="solid"/>
          </a:ln>
        </p:spPr>
      </p:sp>
      <p:sp>
        <p:nvSpPr>
          <p:cNvPr id="8" name="Text 6"/>
          <p:cNvSpPr txBox="1"/>
          <p:nvPr/>
        </p:nvSpPr>
        <p:spPr>
          <a:xfrm>
            <a:off x="6510528" y="2468880"/>
            <a:ext cx="4663440" cy="329184"/>
          </a:xfrm>
          <a:prstGeom prst="rect">
            <a:avLst/>
          </a:prstGeom>
          <a:noFill/>
          <a:ln/>
        </p:spPr>
        <p:txBody>
          <a:bodyPr wrap="square" lIns="0" tIns="0" rIns="0" bIns="0" rtlCol="0" anchor="ctr"/>
          <a:lstStyle/>
          <a:p>
            <a:pPr indent="0" marL="0">
              <a:buNone/>
            </a:pPr>
            <a:r>
              <a:rPr lang="en-US" sz="1450" b="1" dirty="0">
                <a:solidFill>
                  <a:srgbClr val="BE9247"/>
                </a:solidFill>
                <a:latin typeface="Arial" pitchFamily="34" charset="0"/>
                <a:ea typeface="Arial" pitchFamily="34" charset="-122"/>
                <a:cs typeface="Arial" pitchFamily="34" charset="-120"/>
              </a:rPr>
              <a:t>No made-up numbers</a:t>
            </a:r>
            <a:endParaRPr lang="en-US" sz="1450" dirty="0"/>
          </a:p>
        </p:txBody>
      </p:sp>
      <p:sp>
        <p:nvSpPr>
          <p:cNvPr id="9" name="Text 7"/>
          <p:cNvSpPr txBox="1"/>
          <p:nvPr/>
        </p:nvSpPr>
        <p:spPr>
          <a:xfrm>
            <a:off x="6510528" y="2852928"/>
            <a:ext cx="4718304" cy="822960"/>
          </a:xfrm>
          <a:prstGeom prst="rect">
            <a:avLst/>
          </a:prstGeom>
          <a:noFill/>
          <a:ln/>
        </p:spPr>
        <p:txBody>
          <a:bodyPr wrap="square" lIns="0" tIns="0" rIns="0" bIns="0" rtlCol="0" anchor="ctr"/>
          <a:lstStyle/>
          <a:p>
            <a:pPr indent="0" marL="0">
              <a:lnSpc>
                <a:spcPts val="1600"/>
              </a:lnSpc>
              <a:buNone/>
            </a:pPr>
            <a:r>
              <a:rPr lang="en-US" sz="1150" dirty="0">
                <a:solidFill>
                  <a:srgbClr val="9C9C97"/>
                </a:solidFill>
                <a:latin typeface="Calibri" pitchFamily="34" charset="0"/>
                <a:ea typeface="Calibri" pitchFamily="34" charset="-122"/>
                <a:cs typeface="Calibri" pitchFamily="34" charset="-120"/>
              </a:rPr>
              <a:t>No 3x, no 40% uplift, no case study with a rounded figure and no method. If we cannot measure it on your account, it does not get printed.</a:t>
            </a:r>
            <a:endParaRPr lang="en-US" sz="1150" dirty="0"/>
          </a:p>
        </p:txBody>
      </p:sp>
      <p:sp>
        <p:nvSpPr>
          <p:cNvPr id="10" name="Shape 8"/>
          <p:cNvSpPr/>
          <p:nvPr/>
        </p:nvSpPr>
        <p:spPr>
          <a:xfrm>
            <a:off x="640080" y="3977640"/>
            <a:ext cx="5303520" cy="1481328"/>
          </a:xfrm>
          <a:prstGeom prst="roundRect">
            <a:avLst>
              <a:gd name="adj" fmla="val 4938"/>
            </a:avLst>
          </a:prstGeom>
          <a:solidFill>
            <a:srgbClr val="151516"/>
          </a:solidFill>
          <a:ln w="9525">
            <a:solidFill>
              <a:srgbClr val="2A2A2C"/>
            </a:solidFill>
            <a:prstDash val="solid"/>
          </a:ln>
        </p:spPr>
      </p:sp>
      <p:sp>
        <p:nvSpPr>
          <p:cNvPr id="11" name="Text 9"/>
          <p:cNvSpPr txBox="1"/>
          <p:nvPr/>
        </p:nvSpPr>
        <p:spPr>
          <a:xfrm>
            <a:off x="932688" y="4160520"/>
            <a:ext cx="4663440" cy="329184"/>
          </a:xfrm>
          <a:prstGeom prst="rect">
            <a:avLst/>
          </a:prstGeom>
          <a:noFill/>
          <a:ln/>
        </p:spPr>
        <p:txBody>
          <a:bodyPr wrap="square" lIns="0" tIns="0" rIns="0" bIns="0" rtlCol="0" anchor="ctr"/>
          <a:lstStyle/>
          <a:p>
            <a:pPr indent="0" marL="0">
              <a:buNone/>
            </a:pPr>
            <a:r>
              <a:rPr lang="en-US" sz="1450" b="1" dirty="0">
                <a:solidFill>
                  <a:srgbClr val="BE9247"/>
                </a:solidFill>
                <a:latin typeface="Arial" pitchFamily="34" charset="0"/>
                <a:ea typeface="Arial" pitchFamily="34" charset="-122"/>
                <a:cs typeface="Arial" pitchFamily="34" charset="-120"/>
              </a:rPr>
              <a:t>A rate we cannot support is withheld</a:t>
            </a:r>
            <a:endParaRPr lang="en-US" sz="1450" dirty="0"/>
          </a:p>
        </p:txBody>
      </p:sp>
      <p:sp>
        <p:nvSpPr>
          <p:cNvPr id="12" name="Text 10"/>
          <p:cNvSpPr txBox="1"/>
          <p:nvPr/>
        </p:nvSpPr>
        <p:spPr>
          <a:xfrm>
            <a:off x="932688" y="4544568"/>
            <a:ext cx="4718304" cy="822960"/>
          </a:xfrm>
          <a:prstGeom prst="rect">
            <a:avLst/>
          </a:prstGeom>
          <a:noFill/>
          <a:ln/>
        </p:spPr>
        <p:txBody>
          <a:bodyPr wrap="square" lIns="0" tIns="0" rIns="0" bIns="0" rtlCol="0" anchor="ctr"/>
          <a:lstStyle/>
          <a:p>
            <a:pPr indent="0" marL="0">
              <a:lnSpc>
                <a:spcPts val="1600"/>
              </a:lnSpc>
              <a:buNone/>
            </a:pPr>
            <a:r>
              <a:rPr lang="en-US" sz="1150" dirty="0">
                <a:solidFill>
                  <a:srgbClr val="9C9C97"/>
                </a:solidFill>
                <a:latin typeface="Calibri" pitchFamily="34" charset="0"/>
                <a:ea typeface="Calibri" pitchFamily="34" charset="-122"/>
                <a:cs typeface="Calibri" pitchFamily="34" charset="-120"/>
              </a:rPr>
              <a:t>When the ledger cannot prove an open rate, the platform prints "not computable" and says why — instead of a number that looks better.</a:t>
            </a:r>
            <a:endParaRPr lang="en-US" sz="1150" dirty="0"/>
          </a:p>
        </p:txBody>
      </p:sp>
      <p:sp>
        <p:nvSpPr>
          <p:cNvPr id="13" name="Shape 11"/>
          <p:cNvSpPr/>
          <p:nvPr/>
        </p:nvSpPr>
        <p:spPr>
          <a:xfrm>
            <a:off x="6217920" y="3977640"/>
            <a:ext cx="5303520" cy="1481328"/>
          </a:xfrm>
          <a:prstGeom prst="roundRect">
            <a:avLst>
              <a:gd name="adj" fmla="val 4938"/>
            </a:avLst>
          </a:prstGeom>
          <a:solidFill>
            <a:srgbClr val="151516"/>
          </a:solidFill>
          <a:ln w="9525">
            <a:solidFill>
              <a:srgbClr val="2A2A2C"/>
            </a:solidFill>
            <a:prstDash val="solid"/>
          </a:ln>
        </p:spPr>
      </p:sp>
      <p:sp>
        <p:nvSpPr>
          <p:cNvPr id="14" name="Text 12"/>
          <p:cNvSpPr txBox="1"/>
          <p:nvPr/>
        </p:nvSpPr>
        <p:spPr>
          <a:xfrm>
            <a:off x="6510528" y="4160520"/>
            <a:ext cx="4663440" cy="329184"/>
          </a:xfrm>
          <a:prstGeom prst="rect">
            <a:avLst/>
          </a:prstGeom>
          <a:noFill/>
          <a:ln/>
        </p:spPr>
        <p:txBody>
          <a:bodyPr wrap="square" lIns="0" tIns="0" rIns="0" bIns="0" rtlCol="0" anchor="ctr"/>
          <a:lstStyle/>
          <a:p>
            <a:pPr indent="0" marL="0">
              <a:buNone/>
            </a:pPr>
            <a:r>
              <a:rPr lang="en-US" sz="1450" b="1" dirty="0">
                <a:solidFill>
                  <a:srgbClr val="BE9247"/>
                </a:solidFill>
                <a:latin typeface="Arial" pitchFamily="34" charset="0"/>
                <a:ea typeface="Arial" pitchFamily="34" charset="-122"/>
                <a:cs typeface="Arial" pitchFamily="34" charset="-120"/>
              </a:rPr>
              <a:t>The audit says what it could not read</a:t>
            </a:r>
            <a:endParaRPr lang="en-US" sz="1450" dirty="0"/>
          </a:p>
        </p:txBody>
      </p:sp>
      <p:sp>
        <p:nvSpPr>
          <p:cNvPr id="15" name="Text 13"/>
          <p:cNvSpPr txBox="1"/>
          <p:nvPr/>
        </p:nvSpPr>
        <p:spPr>
          <a:xfrm>
            <a:off x="6510528" y="4544568"/>
            <a:ext cx="4718304" cy="822960"/>
          </a:xfrm>
          <a:prstGeom prst="rect">
            <a:avLst/>
          </a:prstGeom>
          <a:noFill/>
          <a:ln/>
        </p:spPr>
        <p:txBody>
          <a:bodyPr wrap="square" lIns="0" tIns="0" rIns="0" bIns="0" rtlCol="0" anchor="ctr"/>
          <a:lstStyle/>
          <a:p>
            <a:pPr indent="0" marL="0">
              <a:lnSpc>
                <a:spcPts val="1600"/>
              </a:lnSpc>
              <a:buNone/>
            </a:pPr>
            <a:r>
              <a:rPr lang="en-US" sz="1150" dirty="0">
                <a:solidFill>
                  <a:srgbClr val="9C9C97"/>
                </a:solidFill>
                <a:latin typeface="Calibri" pitchFamily="34" charset="0"/>
                <a:ea typeface="Calibri" pitchFamily="34" charset="-122"/>
                <a:cs typeface="Calibri" pitchFamily="34" charset="-120"/>
              </a:rPr>
              <a:t>A check it failed to measure is reported as unknown, never counted against you as a zero. Those want opposite actions.</a:t>
            </a:r>
            <a:endParaRPr lang="en-US" sz="1150" dirty="0"/>
          </a:p>
        </p:txBody>
      </p:sp>
      <p:sp>
        <p:nvSpPr>
          <p:cNvPr id="16" name="Text 14"/>
          <p:cNvSpPr txBox="1"/>
          <p:nvPr/>
        </p:nvSpPr>
        <p:spPr>
          <a:xfrm>
            <a:off x="640080" y="6291072"/>
            <a:ext cx="10881360" cy="274320"/>
          </a:xfrm>
          <a:prstGeom prst="rect">
            <a:avLst/>
          </a:prstGeom>
          <a:noFill/>
          <a:ln/>
        </p:spPr>
        <p:txBody>
          <a:bodyPr wrap="square" lIns="0" tIns="0" rIns="0" bIns="0" rtlCol="0" anchor="ctr"/>
          <a:lstStyle/>
          <a:p>
            <a:pPr indent="0" marL="0">
              <a:buNone/>
            </a:pPr>
            <a:r>
              <a:rPr lang="en-US" sz="1000" dirty="0">
                <a:solidFill>
                  <a:srgbClr val="7A7A75"/>
                </a:solidFill>
                <a:latin typeface="Calibri" pitchFamily="34" charset="0"/>
                <a:ea typeface="Calibri" pitchFamily="34" charset="-122"/>
                <a:cs typeface="Calibri" pitchFamily="34" charset="-120"/>
              </a:rPr>
              <a:t>Everything above is enforced in the code, not promised in a policy.</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0B"/>
        </a:solidFill>
      </p:bgPr>
    </p:bg>
    <p:spTree>
      <p:nvGrpSpPr>
        <p:cNvPr id="1" name=""/>
        <p:cNvGrpSpPr/>
        <p:nvPr/>
      </p:nvGrpSpPr>
      <p:grpSpPr>
        <a:xfrm>
          <a:off x="0" y="0"/>
          <a:ext cx="0" cy="0"/>
          <a:chOff x="0" y="0"/>
          <a:chExt cx="0" cy="0"/>
        </a:xfrm>
      </p:grpSpPr>
      <p:sp>
        <p:nvSpPr>
          <p:cNvPr id="2" name="Text 0"/>
          <p:cNvSpPr txBox="1"/>
          <p:nvPr/>
        </p:nvSpPr>
        <p:spPr>
          <a:xfrm>
            <a:off x="640080" y="475488"/>
            <a:ext cx="7315200" cy="256032"/>
          </a:xfrm>
          <a:prstGeom prst="rect">
            <a:avLst/>
          </a:prstGeom>
          <a:noFill/>
          <a:ln/>
        </p:spPr>
        <p:txBody>
          <a:bodyPr wrap="square" lIns="0" tIns="0" rIns="0" bIns="0" rtlCol="0" anchor="ctr"/>
          <a:lstStyle/>
          <a:p>
            <a:pPr indent="0" marL="0">
              <a:buNone/>
            </a:pPr>
            <a:r>
              <a:rPr lang="en-US" sz="1050" b="1" spc="220" kern="0" dirty="0">
                <a:solidFill>
                  <a:srgbClr val="BE9247"/>
                </a:solidFill>
                <a:latin typeface="Courier New" pitchFamily="34" charset="0"/>
                <a:ea typeface="Courier New" pitchFamily="34" charset="-122"/>
                <a:cs typeface="Courier New" pitchFamily="34" charset="-120"/>
              </a:rPr>
              <a:t>THREE STEPS, AND THE FIRST ONE IS FREE</a:t>
            </a:r>
            <a:endParaRPr lang="en-US" sz="1050" dirty="0"/>
          </a:p>
        </p:txBody>
      </p:sp>
      <p:sp>
        <p:nvSpPr>
          <p:cNvPr id="3" name="Text 1"/>
          <p:cNvSpPr txBox="1"/>
          <p:nvPr/>
        </p:nvSpPr>
        <p:spPr>
          <a:xfrm>
            <a:off x="640080" y="841248"/>
            <a:ext cx="10881360" cy="1417320"/>
          </a:xfrm>
          <a:prstGeom prst="rect">
            <a:avLst/>
          </a:prstGeom>
          <a:noFill/>
          <a:ln/>
        </p:spPr>
        <p:txBody>
          <a:bodyPr wrap="square" lIns="0" tIns="0" rIns="0" bIns="0" rtlCol="0" anchor="ctr"/>
          <a:lstStyle/>
          <a:p>
            <a:pPr indent="0" marL="0">
              <a:lnSpc>
                <a:spcPts val="4500"/>
              </a:lnSpc>
              <a:buNone/>
            </a:pPr>
            <a:r>
              <a:rPr lang="en-US" sz="4000" b="1" dirty="0">
                <a:solidFill>
                  <a:srgbClr val="EFEFED"/>
                </a:solidFill>
                <a:latin typeface="Arial" pitchFamily="34" charset="0"/>
                <a:ea typeface="Arial" pitchFamily="34" charset="-122"/>
                <a:cs typeface="Arial" pitchFamily="34" charset="-120"/>
              </a:rPr>
              <a:t>You can test the claim</a:t>
            </a:r>
            <a:endParaRPr lang="en-US" sz="4000" dirty="0"/>
          </a:p>
          <a:p>
            <a:pPr indent="0" marL="0">
              <a:lnSpc>
                <a:spcPts val="4500"/>
              </a:lnSpc>
              <a:buNone/>
            </a:pPr>
            <a:r>
              <a:rPr lang="en-US" sz="4000" b="1" dirty="0">
                <a:solidFill>
                  <a:srgbClr val="EFEFED"/>
                </a:solidFill>
                <a:latin typeface="Arial" pitchFamily="34" charset="0"/>
                <a:ea typeface="Arial" pitchFamily="34" charset="-122"/>
                <a:cs typeface="Arial" pitchFamily="34" charset="-120"/>
              </a:rPr>
              <a:t>before you speak to us.</a:t>
            </a:r>
            <a:endParaRPr lang="en-US" sz="4000" dirty="0"/>
          </a:p>
        </p:txBody>
      </p:sp>
      <p:sp>
        <p:nvSpPr>
          <p:cNvPr id="4" name="Shape 2"/>
          <p:cNvSpPr/>
          <p:nvPr/>
        </p:nvSpPr>
        <p:spPr>
          <a:xfrm>
            <a:off x="640080" y="2331720"/>
            <a:ext cx="3438144" cy="2926080"/>
          </a:xfrm>
          <a:prstGeom prst="roundRect">
            <a:avLst>
              <a:gd name="adj" fmla="val 2500"/>
            </a:avLst>
          </a:prstGeom>
          <a:solidFill>
            <a:srgbClr val="151516"/>
          </a:solidFill>
          <a:ln w="9525">
            <a:solidFill>
              <a:srgbClr val="2A2A2C"/>
            </a:solidFill>
            <a:prstDash val="solid"/>
          </a:ln>
        </p:spPr>
      </p:sp>
      <p:sp>
        <p:nvSpPr>
          <p:cNvPr id="5" name="Shape 3"/>
          <p:cNvSpPr/>
          <p:nvPr/>
        </p:nvSpPr>
        <p:spPr>
          <a:xfrm>
            <a:off x="932688" y="2651760"/>
            <a:ext cx="420624" cy="420624"/>
          </a:xfrm>
          <a:prstGeom prst="ellipse">
            <a:avLst/>
          </a:prstGeom>
          <a:solidFill>
            <a:srgbClr val="0A0A0B"/>
          </a:solidFill>
          <a:ln w="13970">
            <a:solidFill>
              <a:srgbClr val="BE9247"/>
            </a:solidFill>
            <a:prstDash val="solid"/>
          </a:ln>
        </p:spPr>
      </p:sp>
      <p:sp>
        <p:nvSpPr>
          <p:cNvPr id="6" name="Text 4"/>
          <p:cNvSpPr txBox="1"/>
          <p:nvPr/>
        </p:nvSpPr>
        <p:spPr>
          <a:xfrm>
            <a:off x="932688" y="2651760"/>
            <a:ext cx="420624" cy="420624"/>
          </a:xfrm>
          <a:prstGeom prst="rect">
            <a:avLst/>
          </a:prstGeom>
          <a:noFill/>
          <a:ln/>
        </p:spPr>
        <p:txBody>
          <a:bodyPr wrap="square" lIns="0" tIns="0" rIns="0" bIns="0" rtlCol="0" anchor="ctr"/>
          <a:lstStyle/>
          <a:p>
            <a:pPr algn="ctr" indent="0" marL="0">
              <a:buNone/>
            </a:pPr>
            <a:r>
              <a:rPr lang="en-US" sz="1200" b="1" dirty="0">
                <a:solidFill>
                  <a:srgbClr val="BE9247"/>
                </a:solidFill>
                <a:latin typeface="Courier New" pitchFamily="34" charset="0"/>
                <a:ea typeface="Courier New" pitchFamily="34" charset="-122"/>
                <a:cs typeface="Courier New" pitchFamily="34" charset="-120"/>
              </a:rPr>
              <a:t>1</a:t>
            </a:r>
            <a:endParaRPr lang="en-US" sz="1200" dirty="0"/>
          </a:p>
        </p:txBody>
      </p:sp>
      <p:sp>
        <p:nvSpPr>
          <p:cNvPr id="7" name="Text 5"/>
          <p:cNvSpPr txBox="1"/>
          <p:nvPr/>
        </p:nvSpPr>
        <p:spPr>
          <a:xfrm>
            <a:off x="932688" y="3246120"/>
            <a:ext cx="2834640" cy="384048"/>
          </a:xfrm>
          <a:prstGeom prst="rect">
            <a:avLst/>
          </a:prstGeom>
          <a:noFill/>
          <a:ln/>
        </p:spPr>
        <p:txBody>
          <a:bodyPr wrap="square" lIns="0" tIns="0" rIns="0" bIns="0" rtlCol="0" anchor="ctr"/>
          <a:lstStyle/>
          <a:p>
            <a:pPr indent="0" marL="0">
              <a:buNone/>
            </a:pPr>
            <a:r>
              <a:rPr lang="en-US" sz="1650" b="1" dirty="0">
                <a:solidFill>
                  <a:srgbClr val="EFEFED"/>
                </a:solidFill>
                <a:latin typeface="Arial" pitchFamily="34" charset="0"/>
                <a:ea typeface="Arial" pitchFamily="34" charset="-122"/>
                <a:cs typeface="Arial" pitchFamily="34" charset="-120"/>
              </a:rPr>
              <a:t>Run the audit</a:t>
            </a:r>
            <a:endParaRPr lang="en-US" sz="1650" dirty="0"/>
          </a:p>
        </p:txBody>
      </p:sp>
      <p:sp>
        <p:nvSpPr>
          <p:cNvPr id="8" name="Text 6"/>
          <p:cNvSpPr txBox="1"/>
          <p:nvPr/>
        </p:nvSpPr>
        <p:spPr>
          <a:xfrm>
            <a:off x="932688" y="3712464"/>
            <a:ext cx="2871216" cy="1371600"/>
          </a:xfrm>
          <a:prstGeom prst="rect">
            <a:avLst/>
          </a:prstGeom>
          <a:noFill/>
          <a:ln/>
        </p:spPr>
        <p:txBody>
          <a:bodyPr wrap="square" lIns="0" tIns="0" rIns="0" bIns="0" rtlCol="0" anchor="ctr"/>
          <a:lstStyle/>
          <a:p>
            <a:pPr indent="0" marL="0">
              <a:lnSpc>
                <a:spcPts val="1700"/>
              </a:lnSpc>
              <a:buNone/>
            </a:pPr>
            <a:r>
              <a:rPr lang="en-US" sz="1200" dirty="0">
                <a:solidFill>
                  <a:srgbClr val="9C9C97"/>
                </a:solidFill>
                <a:latin typeface="Calibri" pitchFamily="34" charset="0"/>
                <a:ea typeface="Calibri" pitchFamily="34" charset="-122"/>
                <a:cs typeface="Calibri" pitchFamily="34" charset="-120"/>
              </a:rPr>
              <a:t>Put your address into marketwaros.com/audit. No account, no card. Read what it says about your own page.</a:t>
            </a:r>
            <a:endParaRPr lang="en-US" sz="1200" dirty="0"/>
          </a:p>
        </p:txBody>
      </p:sp>
      <p:sp>
        <p:nvSpPr>
          <p:cNvPr id="9" name="Shape 7"/>
          <p:cNvSpPr/>
          <p:nvPr/>
        </p:nvSpPr>
        <p:spPr>
          <a:xfrm>
            <a:off x="4352544" y="2331720"/>
            <a:ext cx="3438144" cy="2926080"/>
          </a:xfrm>
          <a:prstGeom prst="roundRect">
            <a:avLst>
              <a:gd name="adj" fmla="val 2500"/>
            </a:avLst>
          </a:prstGeom>
          <a:solidFill>
            <a:srgbClr val="151516"/>
          </a:solidFill>
          <a:ln w="9525">
            <a:solidFill>
              <a:srgbClr val="2A2A2C"/>
            </a:solidFill>
            <a:prstDash val="solid"/>
          </a:ln>
        </p:spPr>
      </p:sp>
      <p:sp>
        <p:nvSpPr>
          <p:cNvPr id="10" name="Shape 8"/>
          <p:cNvSpPr/>
          <p:nvPr/>
        </p:nvSpPr>
        <p:spPr>
          <a:xfrm>
            <a:off x="4645152" y="2651760"/>
            <a:ext cx="420624" cy="420624"/>
          </a:xfrm>
          <a:prstGeom prst="ellipse">
            <a:avLst/>
          </a:prstGeom>
          <a:solidFill>
            <a:srgbClr val="0A0A0B"/>
          </a:solidFill>
          <a:ln w="13970">
            <a:solidFill>
              <a:srgbClr val="BE9247"/>
            </a:solidFill>
            <a:prstDash val="solid"/>
          </a:ln>
        </p:spPr>
      </p:sp>
      <p:sp>
        <p:nvSpPr>
          <p:cNvPr id="11" name="Text 9"/>
          <p:cNvSpPr txBox="1"/>
          <p:nvPr/>
        </p:nvSpPr>
        <p:spPr>
          <a:xfrm>
            <a:off x="4645152" y="2651760"/>
            <a:ext cx="420624" cy="420624"/>
          </a:xfrm>
          <a:prstGeom prst="rect">
            <a:avLst/>
          </a:prstGeom>
          <a:noFill/>
          <a:ln/>
        </p:spPr>
        <p:txBody>
          <a:bodyPr wrap="square" lIns="0" tIns="0" rIns="0" bIns="0" rtlCol="0" anchor="ctr"/>
          <a:lstStyle/>
          <a:p>
            <a:pPr algn="ctr" indent="0" marL="0">
              <a:buNone/>
            </a:pPr>
            <a:r>
              <a:rPr lang="en-US" sz="1200" b="1" dirty="0">
                <a:solidFill>
                  <a:srgbClr val="BE9247"/>
                </a:solidFill>
                <a:latin typeface="Courier New" pitchFamily="34" charset="0"/>
                <a:ea typeface="Courier New" pitchFamily="34" charset="-122"/>
                <a:cs typeface="Courier New" pitchFamily="34" charset="-120"/>
              </a:rPr>
              <a:t>2</a:t>
            </a:r>
            <a:endParaRPr lang="en-US" sz="1200" dirty="0"/>
          </a:p>
        </p:txBody>
      </p:sp>
      <p:sp>
        <p:nvSpPr>
          <p:cNvPr id="12" name="Text 10"/>
          <p:cNvSpPr txBox="1"/>
          <p:nvPr/>
        </p:nvSpPr>
        <p:spPr>
          <a:xfrm>
            <a:off x="4645152" y="3246120"/>
            <a:ext cx="2834640" cy="384048"/>
          </a:xfrm>
          <a:prstGeom prst="rect">
            <a:avLst/>
          </a:prstGeom>
          <a:noFill/>
          <a:ln/>
        </p:spPr>
        <p:txBody>
          <a:bodyPr wrap="square" lIns="0" tIns="0" rIns="0" bIns="0" rtlCol="0" anchor="ctr"/>
          <a:lstStyle/>
          <a:p>
            <a:pPr indent="0" marL="0">
              <a:buNone/>
            </a:pPr>
            <a:r>
              <a:rPr lang="en-US" sz="1650" b="1" dirty="0">
                <a:solidFill>
                  <a:srgbClr val="EFEFED"/>
                </a:solidFill>
                <a:latin typeface="Arial" pitchFamily="34" charset="0"/>
                <a:ea typeface="Arial" pitchFamily="34" charset="-122"/>
                <a:cs typeface="Arial" pitchFamily="34" charset="-120"/>
              </a:rPr>
              <a:t>Judge it on your own site</a:t>
            </a:r>
            <a:endParaRPr lang="en-US" sz="1650" dirty="0"/>
          </a:p>
        </p:txBody>
      </p:sp>
      <p:sp>
        <p:nvSpPr>
          <p:cNvPr id="13" name="Text 11"/>
          <p:cNvSpPr txBox="1"/>
          <p:nvPr/>
        </p:nvSpPr>
        <p:spPr>
          <a:xfrm>
            <a:off x="4645152" y="3712464"/>
            <a:ext cx="2871216" cy="1371600"/>
          </a:xfrm>
          <a:prstGeom prst="rect">
            <a:avLst/>
          </a:prstGeom>
          <a:noFill/>
          <a:ln/>
        </p:spPr>
        <p:txBody>
          <a:bodyPr wrap="square" lIns="0" tIns="0" rIns="0" bIns="0" rtlCol="0" anchor="ctr"/>
          <a:lstStyle/>
          <a:p>
            <a:pPr indent="0" marL="0">
              <a:lnSpc>
                <a:spcPts val="1700"/>
              </a:lnSpc>
              <a:buNone/>
            </a:pPr>
            <a:r>
              <a:rPr lang="en-US" sz="1200" dirty="0">
                <a:solidFill>
                  <a:srgbClr val="9C9C97"/>
                </a:solidFill>
                <a:latin typeface="Calibri" pitchFamily="34" charset="0"/>
                <a:ea typeface="Calibri" pitchFamily="34" charset="-122"/>
                <a:cs typeface="Calibri" pitchFamily="34" charset="-120"/>
              </a:rPr>
              <a:t>You know your business better than any tool. If the findings are wrong, you will know in seconds — and you will have lost nothing.</a:t>
            </a:r>
            <a:endParaRPr lang="en-US" sz="1200" dirty="0"/>
          </a:p>
        </p:txBody>
      </p:sp>
      <p:sp>
        <p:nvSpPr>
          <p:cNvPr id="14" name="Shape 12"/>
          <p:cNvSpPr/>
          <p:nvPr/>
        </p:nvSpPr>
        <p:spPr>
          <a:xfrm>
            <a:off x="8065008" y="2331720"/>
            <a:ext cx="3438144" cy="2926080"/>
          </a:xfrm>
          <a:prstGeom prst="roundRect">
            <a:avLst>
              <a:gd name="adj" fmla="val 2500"/>
            </a:avLst>
          </a:prstGeom>
          <a:solidFill>
            <a:srgbClr val="151516"/>
          </a:solidFill>
          <a:ln w="9525">
            <a:solidFill>
              <a:srgbClr val="2A2A2C"/>
            </a:solidFill>
            <a:prstDash val="solid"/>
          </a:ln>
        </p:spPr>
      </p:sp>
      <p:sp>
        <p:nvSpPr>
          <p:cNvPr id="15" name="Shape 13"/>
          <p:cNvSpPr/>
          <p:nvPr/>
        </p:nvSpPr>
        <p:spPr>
          <a:xfrm>
            <a:off x="8357616" y="2651760"/>
            <a:ext cx="420624" cy="420624"/>
          </a:xfrm>
          <a:prstGeom prst="ellipse">
            <a:avLst/>
          </a:prstGeom>
          <a:solidFill>
            <a:srgbClr val="0A0A0B"/>
          </a:solidFill>
          <a:ln w="13970">
            <a:solidFill>
              <a:srgbClr val="BE9247"/>
            </a:solidFill>
            <a:prstDash val="solid"/>
          </a:ln>
        </p:spPr>
      </p:sp>
      <p:sp>
        <p:nvSpPr>
          <p:cNvPr id="16" name="Text 14"/>
          <p:cNvSpPr txBox="1"/>
          <p:nvPr/>
        </p:nvSpPr>
        <p:spPr>
          <a:xfrm>
            <a:off x="8357616" y="2651760"/>
            <a:ext cx="420624" cy="420624"/>
          </a:xfrm>
          <a:prstGeom prst="rect">
            <a:avLst/>
          </a:prstGeom>
          <a:noFill/>
          <a:ln/>
        </p:spPr>
        <p:txBody>
          <a:bodyPr wrap="square" lIns="0" tIns="0" rIns="0" bIns="0" rtlCol="0" anchor="ctr"/>
          <a:lstStyle/>
          <a:p>
            <a:pPr algn="ctr" indent="0" marL="0">
              <a:buNone/>
            </a:pPr>
            <a:r>
              <a:rPr lang="en-US" sz="1200" b="1" dirty="0">
                <a:solidFill>
                  <a:srgbClr val="BE9247"/>
                </a:solidFill>
                <a:latin typeface="Courier New" pitchFamily="34" charset="0"/>
                <a:ea typeface="Courier New" pitchFamily="34" charset="-122"/>
                <a:cs typeface="Courier New" pitchFamily="34" charset="-120"/>
              </a:rPr>
              <a:t>3</a:t>
            </a:r>
            <a:endParaRPr lang="en-US" sz="1200" dirty="0"/>
          </a:p>
        </p:txBody>
      </p:sp>
      <p:sp>
        <p:nvSpPr>
          <p:cNvPr id="17" name="Text 15"/>
          <p:cNvSpPr txBox="1"/>
          <p:nvPr/>
        </p:nvSpPr>
        <p:spPr>
          <a:xfrm>
            <a:off x="8357616" y="3246120"/>
            <a:ext cx="2834640" cy="384048"/>
          </a:xfrm>
          <a:prstGeom prst="rect">
            <a:avLst/>
          </a:prstGeom>
          <a:noFill/>
          <a:ln/>
        </p:spPr>
        <p:txBody>
          <a:bodyPr wrap="square" lIns="0" tIns="0" rIns="0" bIns="0" rtlCol="0" anchor="ctr"/>
          <a:lstStyle/>
          <a:p>
            <a:pPr indent="0" marL="0">
              <a:buNone/>
            </a:pPr>
            <a:r>
              <a:rPr lang="en-US" sz="1650" b="1" dirty="0">
                <a:solidFill>
                  <a:srgbClr val="EFEFED"/>
                </a:solidFill>
                <a:latin typeface="Arial" pitchFamily="34" charset="0"/>
                <a:ea typeface="Arial" pitchFamily="34" charset="-122"/>
                <a:cs typeface="Arial" pitchFamily="34" charset="-120"/>
              </a:rPr>
              <a:t>Start free</a:t>
            </a:r>
            <a:endParaRPr lang="en-US" sz="1650" dirty="0"/>
          </a:p>
        </p:txBody>
      </p:sp>
      <p:sp>
        <p:nvSpPr>
          <p:cNvPr id="18" name="Text 16"/>
          <p:cNvSpPr txBox="1"/>
          <p:nvPr/>
        </p:nvSpPr>
        <p:spPr>
          <a:xfrm>
            <a:off x="8357616" y="3712464"/>
            <a:ext cx="2871216" cy="1371600"/>
          </a:xfrm>
          <a:prstGeom prst="rect">
            <a:avLst/>
          </a:prstGeom>
          <a:noFill/>
          <a:ln/>
        </p:spPr>
        <p:txBody>
          <a:bodyPr wrap="square" lIns="0" tIns="0" rIns="0" bIns="0" rtlCol="0" anchor="ctr"/>
          <a:lstStyle/>
          <a:p>
            <a:pPr indent="0" marL="0">
              <a:lnSpc>
                <a:spcPts val="1700"/>
              </a:lnSpc>
              <a:buNone/>
            </a:pPr>
            <a:r>
              <a:rPr lang="en-US" sz="1200" dirty="0">
                <a:solidFill>
                  <a:srgbClr val="9C9C97"/>
                </a:solidFill>
                <a:latin typeface="Calibri" pitchFamily="34" charset="0"/>
                <a:ea typeface="Calibri" pitchFamily="34" charset="-122"/>
                <a:cs typeface="Calibri" pitchFamily="34" charset="-120"/>
              </a:rPr>
              <a:t>The free tier gives you 100 credits and the whole platform to explore. £49 a month is where the full 39-agent workforce turns on, and you upgrade only when it has earned it.</a:t>
            </a:r>
            <a:endParaRPr lang="en-US" sz="1200" dirty="0"/>
          </a:p>
        </p:txBody>
      </p:sp>
      <p:sp>
        <p:nvSpPr>
          <p:cNvPr id="19" name="Text 17"/>
          <p:cNvSpPr txBox="1"/>
          <p:nvPr/>
        </p:nvSpPr>
        <p:spPr>
          <a:xfrm>
            <a:off x="640080" y="6291072"/>
            <a:ext cx="10881360" cy="274320"/>
          </a:xfrm>
          <a:prstGeom prst="rect">
            <a:avLst/>
          </a:prstGeom>
          <a:noFill/>
          <a:ln/>
        </p:spPr>
        <p:txBody>
          <a:bodyPr wrap="square" lIns="0" tIns="0" rIns="0" bIns="0" rtlCol="0" anchor="ctr"/>
          <a:lstStyle/>
          <a:p>
            <a:pPr indent="0" marL="0">
              <a:buNone/>
            </a:pPr>
            <a:r>
              <a:rPr lang="en-US" sz="1000" dirty="0">
                <a:solidFill>
                  <a:srgbClr val="7A7A75"/>
                </a:solidFill>
                <a:latin typeface="Calibri" pitchFamily="34" charset="0"/>
                <a:ea typeface="Calibri" pitchFamily="34" charset="-122"/>
                <a:cs typeface="Calibri" pitchFamily="34" charset="-120"/>
              </a:rPr>
              <a:t>Nothing published, sent or spent without your approval — at any tier.</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A0B"/>
        </a:solidFill>
      </p:bgPr>
    </p:bg>
    <p:spTree>
      <p:nvGrpSpPr>
        <p:cNvPr id="1" name=""/>
        <p:cNvGrpSpPr/>
        <p:nvPr/>
      </p:nvGrpSpPr>
      <p:grpSpPr>
        <a:xfrm>
          <a:off x="0" y="0"/>
          <a:ext cx="0" cy="0"/>
          <a:chOff x="0" y="0"/>
          <a:chExt cx="0" cy="0"/>
        </a:xfrm>
      </p:grpSpPr>
      <p:sp>
        <p:nvSpPr>
          <p:cNvPr id="2" name="Text 0"/>
          <p:cNvSpPr txBox="1"/>
          <p:nvPr/>
        </p:nvSpPr>
        <p:spPr>
          <a:xfrm>
            <a:off x="640080" y="1325880"/>
            <a:ext cx="7315200" cy="274320"/>
          </a:xfrm>
          <a:prstGeom prst="rect">
            <a:avLst/>
          </a:prstGeom>
          <a:noFill/>
          <a:ln/>
        </p:spPr>
        <p:txBody>
          <a:bodyPr wrap="square" lIns="0" tIns="0" rIns="0" bIns="0" rtlCol="0" anchor="ctr"/>
          <a:lstStyle/>
          <a:p>
            <a:pPr indent="0" marL="0">
              <a:buNone/>
            </a:pPr>
            <a:r>
              <a:rPr lang="en-US" sz="1150" b="1" spc="340" kern="0" dirty="0">
                <a:solidFill>
                  <a:srgbClr val="BE9247"/>
                </a:solidFill>
                <a:latin typeface="Courier New" pitchFamily="34" charset="0"/>
                <a:ea typeface="Courier New" pitchFamily="34" charset="-122"/>
                <a:cs typeface="Courier New" pitchFamily="34" charset="-120"/>
              </a:rPr>
              <a:t>MARKETWAR OS</a:t>
            </a:r>
            <a:endParaRPr lang="en-US" sz="1150" dirty="0"/>
          </a:p>
        </p:txBody>
      </p:sp>
      <p:sp>
        <p:nvSpPr>
          <p:cNvPr id="3" name="Text 1"/>
          <p:cNvSpPr txBox="1"/>
          <p:nvPr/>
        </p:nvSpPr>
        <p:spPr>
          <a:xfrm>
            <a:off x="640080" y="1828800"/>
            <a:ext cx="9144000" cy="1737360"/>
          </a:xfrm>
          <a:prstGeom prst="rect">
            <a:avLst/>
          </a:prstGeom>
          <a:noFill/>
          <a:ln/>
        </p:spPr>
        <p:txBody>
          <a:bodyPr wrap="square" lIns="0" tIns="0" rIns="0" bIns="0" rtlCol="0" anchor="ctr"/>
          <a:lstStyle/>
          <a:p>
            <a:pPr indent="0" marL="0">
              <a:lnSpc>
                <a:spcPts val="5500"/>
              </a:lnSpc>
              <a:buNone/>
            </a:pPr>
            <a:r>
              <a:rPr lang="en-US" sz="4800" b="1" dirty="0">
                <a:solidFill>
                  <a:srgbClr val="EFEFED"/>
                </a:solidFill>
                <a:latin typeface="Arial" pitchFamily="34" charset="0"/>
                <a:ea typeface="Arial" pitchFamily="34" charset="-122"/>
                <a:cs typeface="Arial" pitchFamily="34" charset="-120"/>
              </a:rPr>
              <a:t>Find out what your</a:t>
            </a:r>
            <a:endParaRPr lang="en-US" sz="4800" dirty="0"/>
          </a:p>
          <a:p>
            <a:pPr indent="0" marL="0">
              <a:lnSpc>
                <a:spcPts val="5500"/>
              </a:lnSpc>
              <a:buNone/>
            </a:pPr>
            <a:r>
              <a:rPr lang="en-US" sz="4800" b="1" dirty="0">
                <a:solidFill>
                  <a:srgbClr val="DABE81"/>
                </a:solidFill>
                <a:latin typeface="Arial" pitchFamily="34" charset="0"/>
                <a:ea typeface="Arial" pitchFamily="34" charset="-122"/>
                <a:cs typeface="Arial" pitchFamily="34" charset="-120"/>
              </a:rPr>
              <a:t>website is costing you.</a:t>
            </a:r>
            <a:endParaRPr lang="en-US" sz="4800" dirty="0"/>
          </a:p>
        </p:txBody>
      </p:sp>
      <p:sp>
        <p:nvSpPr>
          <p:cNvPr id="4" name="Text 2"/>
          <p:cNvSpPr txBox="1"/>
          <p:nvPr/>
        </p:nvSpPr>
        <p:spPr>
          <a:xfrm>
            <a:off x="640080" y="3703320"/>
            <a:ext cx="8229600" cy="457200"/>
          </a:xfrm>
          <a:prstGeom prst="rect">
            <a:avLst/>
          </a:prstGeom>
          <a:noFill/>
          <a:ln/>
        </p:spPr>
        <p:txBody>
          <a:bodyPr wrap="square" lIns="0" tIns="0" rIns="0" bIns="0" rtlCol="0" anchor="ctr"/>
          <a:lstStyle/>
          <a:p>
            <a:pPr indent="0" marL="0">
              <a:buNone/>
            </a:pPr>
            <a:r>
              <a:rPr lang="en-US" sz="1600" dirty="0">
                <a:solidFill>
                  <a:srgbClr val="9C9C97"/>
                </a:solidFill>
                <a:latin typeface="Calibri" pitchFamily="34" charset="0"/>
                <a:ea typeface="Calibri" pitchFamily="34" charset="-122"/>
                <a:cs typeface="Calibri" pitchFamily="34" charset="-120"/>
              </a:rPr>
              <a:t>30 checks on your real page. About fifteen seconds. No account, no card.</a:t>
            </a:r>
            <a:endParaRPr lang="en-US" sz="1600" dirty="0"/>
          </a:p>
        </p:txBody>
      </p:sp>
      <p:sp>
        <p:nvSpPr>
          <p:cNvPr id="5" name="Shape 3"/>
          <p:cNvSpPr/>
          <p:nvPr/>
        </p:nvSpPr>
        <p:spPr>
          <a:xfrm>
            <a:off x="640080" y="4434840"/>
            <a:ext cx="4114800" cy="713232"/>
          </a:xfrm>
          <a:prstGeom prst="roundRect">
            <a:avLst>
              <a:gd name="adj" fmla="val 11538"/>
            </a:avLst>
          </a:prstGeom>
          <a:solidFill>
            <a:srgbClr val="BE9247"/>
          </a:solidFill>
          <a:ln w="12700">
            <a:solidFill>
              <a:srgbClr val="BE9247"/>
            </a:solidFill>
            <a:prstDash val="solid"/>
          </a:ln>
        </p:spPr>
      </p:sp>
      <p:sp>
        <p:nvSpPr>
          <p:cNvPr id="6" name="Text 4"/>
          <p:cNvSpPr txBox="1"/>
          <p:nvPr/>
        </p:nvSpPr>
        <p:spPr>
          <a:xfrm>
            <a:off x="640080" y="4434840"/>
            <a:ext cx="4114800" cy="713232"/>
          </a:xfrm>
          <a:prstGeom prst="rect">
            <a:avLst/>
          </a:prstGeom>
          <a:noFill/>
          <a:ln/>
        </p:spPr>
        <p:txBody>
          <a:bodyPr wrap="square" lIns="0" tIns="0" rIns="0" bIns="0" rtlCol="0" anchor="ctr"/>
          <a:lstStyle/>
          <a:p>
            <a:pPr algn="ctr" indent="0" marL="0">
              <a:buNone/>
            </a:pPr>
            <a:r>
              <a:rPr lang="en-US" sz="1500" b="1" dirty="0">
                <a:solidFill>
                  <a:srgbClr val="0A0A0B"/>
                </a:solidFill>
                <a:latin typeface="Arial" pitchFamily="34" charset="0"/>
                <a:ea typeface="Arial" pitchFamily="34" charset="-122"/>
                <a:cs typeface="Arial" pitchFamily="34" charset="-120"/>
              </a:rPr>
              <a:t>www.marketwaros.com/audit</a:t>
            </a:r>
            <a:endParaRPr lang="en-US" sz="1500" dirty="0"/>
          </a:p>
        </p:txBody>
      </p:sp>
      <p:sp>
        <p:nvSpPr>
          <p:cNvPr id="7" name="Text 5"/>
          <p:cNvSpPr txBox="1"/>
          <p:nvPr/>
        </p:nvSpPr>
        <p:spPr>
          <a:xfrm>
            <a:off x="5166360" y="4434840"/>
            <a:ext cx="3657600" cy="713232"/>
          </a:xfrm>
          <a:prstGeom prst="rect">
            <a:avLst/>
          </a:prstGeom>
          <a:noFill/>
          <a:ln/>
        </p:spPr>
        <p:txBody>
          <a:bodyPr wrap="square" lIns="0" tIns="0" rIns="0" bIns="0" rtlCol="0" anchor="ctr"/>
          <a:lstStyle/>
          <a:p>
            <a:pPr indent="0" marL="0">
              <a:buNone/>
            </a:pPr>
            <a:r>
              <a:rPr lang="en-US" sz="1400" dirty="0">
                <a:solidFill>
                  <a:srgbClr val="EFEFED"/>
                </a:solidFill>
                <a:latin typeface="Calibri" pitchFamily="34" charset="0"/>
                <a:ea typeface="Calibri" pitchFamily="34" charset="-122"/>
                <a:cs typeface="Calibri" pitchFamily="34" charset="-120"/>
              </a:rPr>
              <a:t>info@marketwaros.com</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MarketWar OS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MarketWar OS — sales presentation</dc:title>
  <dc:subject>PptxGenJS Presentation</dc:subject>
  <dc:creator>MarketWar OS</dc:creator>
  <cp:lastModifiedBy>MarketWar OS</cp:lastModifiedBy>
  <cp:revision>1</cp:revision>
  <dcterms:created xsi:type="dcterms:W3CDTF">2026-09-08T07:25:20Z</dcterms:created>
  <dcterms:modified xsi:type="dcterms:W3CDTF">2026-09-08T07:25:20Z</dcterms:modified>
</cp:coreProperties>
</file>